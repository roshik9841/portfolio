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3" r:id="rId26"/>
    <p:sldId id="284" r:id="rId27"/>
    <p:sldId id="282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60"/>
  </p:normalViewPr>
  <p:slideViewPr>
    <p:cSldViewPr snapToGrid="0">
      <p:cViewPr>
        <p:scale>
          <a:sx n="75" d="100"/>
          <a:sy n="75" d="100"/>
        </p:scale>
        <p:origin x="2501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7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7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0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1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3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7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1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C40B-74D6-45FD-BBD9-840A1D36239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9E9DB-9707-4852-9E46-1CAF55427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5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2848" y="2282711"/>
            <a:ext cx="7948373" cy="4256236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Presentation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Detection System</a:t>
            </a:r>
          </a:p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CNN Algorithm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Roshik Maharjan(41002143)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Project  Presentation Submitted in partial fulfillment of the requirement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Computer Applications(BCA) 6</a:t>
            </a:r>
            <a:r>
              <a:rPr lang="en-US" sz="1800" b="1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semester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Nepal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April, 2026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A.D.                                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790642"/>
            <a:ext cx="1178770" cy="116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0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8878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67067"/>
            <a:ext cx="7886700" cy="63909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 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………………......................................................................................................................................................................................................................5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Requirement(Use Case diagram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……………….......................................................................................................................................................................6</a:t>
            </a:r>
            <a:endParaRPr lang="en-US" sz="9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Technical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 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Operational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Economical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Schedule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……………….......................................................................................................................................................................................................................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………………....................................................................................................................................................................................................…………..14</a:t>
            </a: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 15</a:t>
            </a:r>
          </a:p>
          <a:p>
            <a:pPr marL="0" indent="0">
              <a:buNone/>
            </a:pP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Sequence Diagram ………………................................................................................................................................................................................ 16 </a:t>
            </a:r>
          </a:p>
          <a:p>
            <a:pPr marL="0" indent="0">
              <a:buNone/>
            </a:pP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State diagram…………………......................................................................................................................................................................................17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Activity diagram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 18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Component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diagram…………………………………………….……………………................................................................................…………..19</a:t>
            </a:r>
          </a:p>
          <a:p>
            <a:pPr marL="0" indent="0">
              <a:buNone/>
            </a:pP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Deployment diagram………………………………………………………................................................................................……………………..20</a:t>
            </a:r>
          </a:p>
          <a:p>
            <a:pPr marL="0" indent="0">
              <a:buNone/>
            </a:pP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………………........................................................................................................................................................................................................................... .21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…………………………………………………………………………………………..……………….........................................................……………………27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……………….......................................................................................................................................................................................................................... .32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r>
              <a:rPr lang="en-US" sz="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………………............................................................................................................................................................................................................................33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8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system that uses artificial intelligence to detect pneumonia from chest X-ray images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Convolutional Neural Networks (CNNs) and the VGG16 model to identify pathology-specific patterns like lung opacity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PHP, Python (Flask), and MySQL to provide a robust, efficient platform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support clinicians in resource-limited settings by providing rapid triage and preliminary screening.</a:t>
            </a:r>
          </a:p>
        </p:txBody>
      </p:sp>
    </p:spTree>
    <p:extLst>
      <p:ext uri="{BB962C8B-B14F-4D97-AF65-F5344CB8AC3E}">
        <p14:creationId xmlns:p14="http://schemas.microsoft.com/office/powerpoint/2010/main" val="250225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system for the detection of pneumonia from chest X-ray images using CNN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alleviate patient stress by reducing waiting times for preliminary assessments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intelligent, web-based platform for accurate and accessible diagnosis.</a:t>
            </a:r>
          </a:p>
        </p:txBody>
      </p:sp>
    </p:spTree>
    <p:extLst>
      <p:ext uri="{BB962C8B-B14F-4D97-AF65-F5344CB8AC3E}">
        <p14:creationId xmlns:p14="http://schemas.microsoft.com/office/powerpoint/2010/main" val="37705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doctors make faster decisions through automated pixel and texture analysis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automatically with minimal human effort to handle high case volumes.</a:t>
            </a:r>
          </a:p>
        </p:txBody>
      </p:sp>
    </p:spTree>
    <p:extLst>
      <p:ext uri="{BB962C8B-B14F-4D97-AF65-F5344CB8AC3E}">
        <p14:creationId xmlns:p14="http://schemas.microsoft.com/office/powerpoint/2010/main" val="222018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626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 algn="ctr">
              <a:buNone/>
            </a:pPr>
            <a:r>
              <a:rPr lang="en-US" sz="2400" dirty="0" smtClean="0"/>
              <a:t>Figure: Use Case Diagram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683" y="1135171"/>
            <a:ext cx="5692633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1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5900"/>
            <a:ext cx="7886700" cy="4884420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lvl="1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Hardware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lvl="2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Size: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a minimum of 8GB RAM to ensure smooth operation as we are working with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algorithm. It is currently feasible within the available hardware options.</a:t>
            </a:r>
          </a:p>
          <a:p>
            <a:pPr lvl="2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Size: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quad-core processor (something like an Intel i3 or i5) is good enough to handle what the system needs to do which is mostly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running the VGG16 CNN model.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Space: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a minimum of 4GB of storage space to accommodate all the application files, database, and future growth which is feasible within the available storage options in our system.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39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49580"/>
            <a:ext cx="7886700" cy="57273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lvl="2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compatible with modern operating systems, such as Windows 10,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Linux distributions which is  feasible within the supported operating system options.</a:t>
            </a:r>
          </a:p>
          <a:p>
            <a:pPr lvl="2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We're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Visual Studio Code for development—it’s free, lightweight, and widely supported. It’s a good choice for handling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works well across different systems. Easy to install and use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built on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ython,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All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tools are open-source and free, which keeps development cost-effective and flexible. Fits perfectly with our project needs.</a:t>
            </a:r>
          </a:p>
          <a:p>
            <a:pPr lvl="2" algn="just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5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16280"/>
            <a:ext cx="7886700" cy="546068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User-Friendliness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interface is designed to be intuitive, allowing medical staff with basic computer knowledge to upload X-rays and receive results instantly.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Integration: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acts as a decision-support tool, fitting into the existing diagnostic workflow by providing a "second opinion" or rapid triage.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web-based, it can be accessed from any department within a hospital network without complex local installations.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78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01980"/>
            <a:ext cx="7886700" cy="557498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Hardware Requirement: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laptop or PC with the minimum required specifications is sufficient for development and use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Costs: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Low, as it relies on open-source libraries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languages (PHP, Python) that do not require licensing fees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Savings: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automating the initial screening, the system reduces the workload on radiologists and potentially lowers the cost of diagnosis for patients in resource-limited areas.</a:t>
            </a: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63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590" y="-221614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3796" y="823591"/>
            <a:ext cx="4857654" cy="2597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41" y="3299460"/>
            <a:ext cx="6047299" cy="300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3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Incremental Methodology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2566987"/>
            <a:ext cx="81248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0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76834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04900"/>
            <a:ext cx="7886700" cy="540258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Sukendra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(2026): Explored Vision Transformers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global relationship capturing in X-ray images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 et al. (2021): Surveyed deep learning techniques, highlighting how CNNs process pixel intensity and shape variations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 et al. (2022): Utilized ResNet101 to overcome training issues like vanishing gradients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Stephen et al: Proposed web-based diagnostic platforms for resource-limited environments.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provided important clinical insights into Community-acquired Pneumonia (CAP), including its causes, symptoms, risk factors, and complications. </a:t>
            </a:r>
          </a:p>
        </p:txBody>
      </p:sp>
    </p:spTree>
    <p:extLst>
      <p:ext uri="{BB962C8B-B14F-4D97-AF65-F5344CB8AC3E}">
        <p14:creationId xmlns:p14="http://schemas.microsoft.com/office/powerpoint/2010/main" val="29651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126" y="1690689"/>
            <a:ext cx="50037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68274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0428" y="1157289"/>
            <a:ext cx="5562851" cy="51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6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291" y="1566544"/>
            <a:ext cx="4748590" cy="465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8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422" y="1690689"/>
            <a:ext cx="4570418" cy="464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96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386" y="1584960"/>
            <a:ext cx="5492825" cy="46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30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222" y="1825625"/>
            <a:ext cx="71295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6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626" y="1780224"/>
            <a:ext cx="6380633" cy="43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96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Tools: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2F56C9-5F76-A9FE-2DE9-FDFFA22F8E04}"/>
              </a:ext>
            </a:extLst>
          </p:cNvPr>
          <p:cNvSpPr txBox="1">
            <a:spLocks/>
          </p:cNvSpPr>
          <p:nvPr/>
        </p:nvSpPr>
        <p:spPr>
          <a:xfrm>
            <a:off x="5334000" y="1690689"/>
            <a:ext cx="2971800" cy="180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Tools: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940F57-6119-235E-967C-10CA3A2208E7}"/>
              </a:ext>
            </a:extLst>
          </p:cNvPr>
          <p:cNvSpPr txBox="1">
            <a:spLocks/>
          </p:cNvSpPr>
          <p:nvPr/>
        </p:nvSpPr>
        <p:spPr>
          <a:xfrm>
            <a:off x="5402580" y="3625850"/>
            <a:ext cx="29718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11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 Module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Detection Module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 Algorithm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959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4960"/>
            <a:ext cx="4034790" cy="459200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for authorized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personnel(admin).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access levels (e.g., Admin can manage users, while Doctors can perform and view scans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manage their personal information and credentials.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235" y="1584960"/>
            <a:ext cx="3802705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7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4960"/>
            <a:ext cx="3806190" cy="46558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interface for uploading chest X-ray images in standard formats (JPEG/PNG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 AI model checks if the uploaded image is actually a chest X-ray to prevent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resized and processed to match the input requirements of the VGG16 model.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90689"/>
            <a:ext cx="4191000" cy="418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02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Detection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9686"/>
            <a:ext cx="3912870" cy="458727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VGG16-based model analyzes the pixel intensities and textures of the lungs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patterns associated with pneumonia, such as lung opacity or consolidation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generates a prediction (Pneumonia vs. Normal) along with a confidence score.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523" y="1589686"/>
            <a:ext cx="3817827" cy="471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46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 Algorithm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790950" cy="4351338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algorithms, CNNs are inspired by the human visual cortex and excel at identifying spatial hierarchies in medical images (edges -&gt; shapes-&gt; lung textures).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CNN Algorithm for Pneumonia Detection System: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3x3 filters to extract fine details like lung consolidation or fluid patterns.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image dimensions while retaining critical diagnostic features, making the system faster.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non-linearity, helping the model learn the complex differences between viral and bacterial pneumonia signatures.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 to output a probability between 0 and 1.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score is &gt;0.5, the system classifies it as pneumonia;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otherwise,it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Normal.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543" y="1825625"/>
            <a:ext cx="4264897" cy="403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85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879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0" y="0"/>
            <a:ext cx="78867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4BCF5C-4EA4-B5DF-8456-D77F06BCC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184552"/>
              </p:ext>
            </p:extLst>
          </p:nvPr>
        </p:nvGraphicFramePr>
        <p:xfrm>
          <a:off x="548642" y="1208404"/>
          <a:ext cx="8058148" cy="4947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9867">
                  <a:extLst>
                    <a:ext uri="{9D8B030D-6E8A-4147-A177-3AD203B41FA5}">
                      <a16:colId xmlns:a16="http://schemas.microsoft.com/office/drawing/2014/main" val="3858961462"/>
                    </a:ext>
                  </a:extLst>
                </a:gridCol>
                <a:gridCol w="1109600">
                  <a:extLst>
                    <a:ext uri="{9D8B030D-6E8A-4147-A177-3AD203B41FA5}">
                      <a16:colId xmlns:a16="http://schemas.microsoft.com/office/drawing/2014/main" val="3159189370"/>
                    </a:ext>
                  </a:extLst>
                </a:gridCol>
                <a:gridCol w="3716743">
                  <a:extLst>
                    <a:ext uri="{9D8B030D-6E8A-4147-A177-3AD203B41FA5}">
                      <a16:colId xmlns:a16="http://schemas.microsoft.com/office/drawing/2014/main" val="199410240"/>
                    </a:ext>
                  </a:extLst>
                </a:gridCol>
                <a:gridCol w="1021651">
                  <a:extLst>
                    <a:ext uri="{9D8B030D-6E8A-4147-A177-3AD203B41FA5}">
                      <a16:colId xmlns:a16="http://schemas.microsoft.com/office/drawing/2014/main" val="3912024503"/>
                    </a:ext>
                  </a:extLst>
                </a:gridCol>
                <a:gridCol w="1021651">
                  <a:extLst>
                    <a:ext uri="{9D8B030D-6E8A-4147-A177-3AD203B41FA5}">
                      <a16:colId xmlns:a16="http://schemas.microsoft.com/office/drawing/2014/main" val="3197539509"/>
                    </a:ext>
                  </a:extLst>
                </a:gridCol>
                <a:gridCol w="758636">
                  <a:extLst>
                    <a:ext uri="{9D8B030D-6E8A-4147-A177-3AD203B41FA5}">
                      <a16:colId xmlns:a16="http://schemas.microsoft.com/office/drawing/2014/main" val="896830329"/>
                    </a:ext>
                  </a:extLst>
                </a:gridCol>
              </a:tblGrid>
              <a:tr h="5436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Results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extLst>
                  <a:ext uri="{0D108BD9-81ED-4DB2-BD59-A6C34878D82A}">
                    <a16:rowId xmlns:a16="http://schemas.microsoft.com/office/drawing/2014/main" val="2387370223"/>
                  </a:ext>
                </a:extLst>
              </a:tr>
              <a:tr h="1344847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Submit without any details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 and password Required Error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 and password Required Error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0325" marR="73660" marT="109855" marB="0" anchor="ctr"/>
                </a:tc>
                <a:extLst>
                  <a:ext uri="{0D108BD9-81ED-4DB2-BD59-A6C34878D82A}">
                    <a16:rowId xmlns:a16="http://schemas.microsoft.com/office/drawing/2014/main" val="2297021212"/>
                  </a:ext>
                </a:extLst>
              </a:tr>
              <a:tr h="1173058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new user with valid details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</a:t>
                      </a:r>
                    </a:p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Password: 123456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0" marR="2540" indent="0" algn="ctr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Registered successfully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0" marR="2540" indent="0" algn="ctr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Registered successfully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0325" marR="73660" marT="109855" marB="0" anchor="ctr"/>
                </a:tc>
                <a:extLst>
                  <a:ext uri="{0D108BD9-81ED-4DB2-BD59-A6C34878D82A}">
                    <a16:rowId xmlns:a16="http://schemas.microsoft.com/office/drawing/2014/main" val="2430276674"/>
                  </a:ext>
                </a:extLst>
              </a:tr>
              <a:tr h="1424749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Already Existed Username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</a:t>
                      </a:r>
                    </a:p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Password: 123456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10160" marR="2540" indent="0" algn="ctr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3660" marT="109855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marL="60325" marR="73660" marT="109855" marB="0" anchor="ctr"/>
                </a:tc>
                <a:extLst>
                  <a:ext uri="{0D108BD9-81ED-4DB2-BD59-A6C34878D82A}">
                    <a16:rowId xmlns:a16="http://schemas.microsoft.com/office/drawing/2014/main" val="2951424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20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76A4B33-CAF9-24AC-35DF-DC7FBDDE7B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447171"/>
              </p:ext>
            </p:extLst>
          </p:nvPr>
        </p:nvGraphicFramePr>
        <p:xfrm>
          <a:off x="628650" y="2026919"/>
          <a:ext cx="8004809" cy="33877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7021">
                  <a:extLst>
                    <a:ext uri="{9D8B030D-6E8A-4147-A177-3AD203B41FA5}">
                      <a16:colId xmlns:a16="http://schemas.microsoft.com/office/drawing/2014/main" val="3858961462"/>
                    </a:ext>
                  </a:extLst>
                </a:gridCol>
                <a:gridCol w="1102254">
                  <a:extLst>
                    <a:ext uri="{9D8B030D-6E8A-4147-A177-3AD203B41FA5}">
                      <a16:colId xmlns:a16="http://schemas.microsoft.com/office/drawing/2014/main" val="3159189370"/>
                    </a:ext>
                  </a:extLst>
                </a:gridCol>
                <a:gridCol w="3692140">
                  <a:extLst>
                    <a:ext uri="{9D8B030D-6E8A-4147-A177-3AD203B41FA5}">
                      <a16:colId xmlns:a16="http://schemas.microsoft.com/office/drawing/2014/main" val="199410240"/>
                    </a:ext>
                  </a:extLst>
                </a:gridCol>
                <a:gridCol w="1070285">
                  <a:extLst>
                    <a:ext uri="{9D8B030D-6E8A-4147-A177-3AD203B41FA5}">
                      <a16:colId xmlns:a16="http://schemas.microsoft.com/office/drawing/2014/main" val="3912024503"/>
                    </a:ext>
                  </a:extLst>
                </a:gridCol>
                <a:gridCol w="1090510">
                  <a:extLst>
                    <a:ext uri="{9D8B030D-6E8A-4147-A177-3AD203B41FA5}">
                      <a16:colId xmlns:a16="http://schemas.microsoft.com/office/drawing/2014/main" val="3197539509"/>
                    </a:ext>
                  </a:extLst>
                </a:gridCol>
                <a:gridCol w="622599">
                  <a:extLst>
                    <a:ext uri="{9D8B030D-6E8A-4147-A177-3AD203B41FA5}">
                      <a16:colId xmlns:a16="http://schemas.microsoft.com/office/drawing/2014/main" val="896830329"/>
                    </a:ext>
                  </a:extLst>
                </a:gridCol>
              </a:tblGrid>
              <a:tr h="7880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Results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extLst>
                  <a:ext uri="{0D108BD9-81ED-4DB2-BD59-A6C34878D82A}">
                    <a16:rowId xmlns:a16="http://schemas.microsoft.com/office/drawing/2014/main" val="2387370223"/>
                  </a:ext>
                </a:extLst>
              </a:tr>
              <a:tr h="1128676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0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all detail correctly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</a:t>
                      </a:r>
                    </a:p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Password:123456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048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In successfully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5143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In successfully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extLst>
                  <a:ext uri="{0D108BD9-81ED-4DB2-BD59-A6C34878D82A}">
                    <a16:rowId xmlns:a16="http://schemas.microsoft.com/office/drawing/2014/main" val="2297021212"/>
                  </a:ext>
                </a:extLst>
              </a:tr>
              <a:tr h="1298942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not existed Username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 </a:t>
                      </a:r>
                    </a:p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Password: 123456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27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1493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A4B33-CAF9-24AC-35DF-DC7FBDDE7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472460"/>
              </p:ext>
            </p:extLst>
          </p:nvPr>
        </p:nvGraphicFramePr>
        <p:xfrm>
          <a:off x="628650" y="2026919"/>
          <a:ext cx="8004809" cy="33877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7021">
                  <a:extLst>
                    <a:ext uri="{9D8B030D-6E8A-4147-A177-3AD203B41FA5}">
                      <a16:colId xmlns:a16="http://schemas.microsoft.com/office/drawing/2014/main" val="3858961462"/>
                    </a:ext>
                  </a:extLst>
                </a:gridCol>
                <a:gridCol w="1102254">
                  <a:extLst>
                    <a:ext uri="{9D8B030D-6E8A-4147-A177-3AD203B41FA5}">
                      <a16:colId xmlns:a16="http://schemas.microsoft.com/office/drawing/2014/main" val="3159189370"/>
                    </a:ext>
                  </a:extLst>
                </a:gridCol>
                <a:gridCol w="3692140">
                  <a:extLst>
                    <a:ext uri="{9D8B030D-6E8A-4147-A177-3AD203B41FA5}">
                      <a16:colId xmlns:a16="http://schemas.microsoft.com/office/drawing/2014/main" val="199410240"/>
                    </a:ext>
                  </a:extLst>
                </a:gridCol>
                <a:gridCol w="1070285">
                  <a:extLst>
                    <a:ext uri="{9D8B030D-6E8A-4147-A177-3AD203B41FA5}">
                      <a16:colId xmlns:a16="http://schemas.microsoft.com/office/drawing/2014/main" val="3912024503"/>
                    </a:ext>
                  </a:extLst>
                </a:gridCol>
                <a:gridCol w="1090510">
                  <a:extLst>
                    <a:ext uri="{9D8B030D-6E8A-4147-A177-3AD203B41FA5}">
                      <a16:colId xmlns:a16="http://schemas.microsoft.com/office/drawing/2014/main" val="3197539509"/>
                    </a:ext>
                  </a:extLst>
                </a:gridCol>
                <a:gridCol w="622599">
                  <a:extLst>
                    <a:ext uri="{9D8B030D-6E8A-4147-A177-3AD203B41FA5}">
                      <a16:colId xmlns:a16="http://schemas.microsoft.com/office/drawing/2014/main" val="896830329"/>
                    </a:ext>
                  </a:extLst>
                </a:gridCol>
              </a:tblGrid>
              <a:tr h="7880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Results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extLst>
                  <a:ext uri="{0D108BD9-81ED-4DB2-BD59-A6C34878D82A}">
                    <a16:rowId xmlns:a16="http://schemas.microsoft.com/office/drawing/2014/main" val="2387370223"/>
                  </a:ext>
                </a:extLst>
              </a:tr>
              <a:tr h="1128676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0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Image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048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of pneumonia.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5143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of pneumonia.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extLst>
                  <a:ext uri="{0D108BD9-81ED-4DB2-BD59-A6C34878D82A}">
                    <a16:rowId xmlns:a16="http://schemas.microsoft.com/office/drawing/2014/main" val="2297021212"/>
                  </a:ext>
                </a:extLst>
              </a:tr>
              <a:tr h="1298942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non x-ray image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random image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27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237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-203200"/>
            <a:ext cx="7886700" cy="1345249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6A4B33-CAF9-24AC-35DF-DC7FBDDE7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644904"/>
              </p:ext>
            </p:extLst>
          </p:nvPr>
        </p:nvGraphicFramePr>
        <p:xfrm>
          <a:off x="628651" y="999809"/>
          <a:ext cx="8088629" cy="57535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1493">
                  <a:extLst>
                    <a:ext uri="{9D8B030D-6E8A-4147-A177-3AD203B41FA5}">
                      <a16:colId xmlns:a16="http://schemas.microsoft.com/office/drawing/2014/main" val="3858961462"/>
                    </a:ext>
                  </a:extLst>
                </a:gridCol>
                <a:gridCol w="1113797">
                  <a:extLst>
                    <a:ext uri="{9D8B030D-6E8A-4147-A177-3AD203B41FA5}">
                      <a16:colId xmlns:a16="http://schemas.microsoft.com/office/drawing/2014/main" val="3159189370"/>
                    </a:ext>
                  </a:extLst>
                </a:gridCol>
                <a:gridCol w="3730800">
                  <a:extLst>
                    <a:ext uri="{9D8B030D-6E8A-4147-A177-3AD203B41FA5}">
                      <a16:colId xmlns:a16="http://schemas.microsoft.com/office/drawing/2014/main" val="199410240"/>
                    </a:ext>
                  </a:extLst>
                </a:gridCol>
                <a:gridCol w="1121076">
                  <a:extLst>
                    <a:ext uri="{9D8B030D-6E8A-4147-A177-3AD203B41FA5}">
                      <a16:colId xmlns:a16="http://schemas.microsoft.com/office/drawing/2014/main" val="3912024503"/>
                    </a:ext>
                  </a:extLst>
                </a:gridCol>
                <a:gridCol w="1081863">
                  <a:extLst>
                    <a:ext uri="{9D8B030D-6E8A-4147-A177-3AD203B41FA5}">
                      <a16:colId xmlns:a16="http://schemas.microsoft.com/office/drawing/2014/main" val="31975395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96830329"/>
                    </a:ext>
                  </a:extLst>
                </a:gridCol>
              </a:tblGrid>
              <a:tr h="6177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Outcomes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Results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792" marR="55792" marT="0" marB="0"/>
                </a:tc>
                <a:extLst>
                  <a:ext uri="{0D108BD9-81ED-4DB2-BD59-A6C34878D82A}">
                    <a16:rowId xmlns:a16="http://schemas.microsoft.com/office/drawing/2014/main" val="2387370223"/>
                  </a:ext>
                </a:extLst>
              </a:tr>
              <a:tr h="929082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175" marR="2540" indent="0" algn="l">
                        <a:lnSpc>
                          <a:spcPct val="10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Registration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 </a:t>
                      </a:r>
                    </a:p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Password:123456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3048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Registered successfully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5143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Registered successfully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635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extLst>
                  <a:ext uri="{0D108BD9-81ED-4DB2-BD59-A6C34878D82A}">
                    <a16:rowId xmlns:a16="http://schemas.microsoft.com/office/drawing/2014/main" val="2297021212"/>
                  </a:ext>
                </a:extLst>
              </a:tr>
              <a:tr h="1032041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Login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Username: user123 </a:t>
                      </a:r>
                    </a:p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Password:123456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In successfully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In successfully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276674"/>
                  </a:ext>
                </a:extLst>
              </a:tr>
              <a:tr h="944091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random Image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random image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Message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763214"/>
                  </a:ext>
                </a:extLst>
              </a:tr>
              <a:tr h="944091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 X-ray image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Chest X-ray image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of pneumonia.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of pneumonia.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614909"/>
                  </a:ext>
                </a:extLst>
              </a:tr>
              <a:tr h="944091">
                <a:tc>
                  <a:txBody>
                    <a:bodyPr/>
                    <a:lstStyle/>
                    <a:p>
                      <a:pPr marL="0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kern="10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Presses Logout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out successfully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25" marR="2540" indent="0" algn="l">
                        <a:lnSpc>
                          <a:spcPct val="150000"/>
                        </a:lnSpc>
                        <a:spcAft>
                          <a:spcPts val="755"/>
                        </a:spcAft>
                        <a:buNone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Logged out successfully 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25" marR="74930" marT="1092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69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276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5440"/>
            <a:ext cx="7886700" cy="456152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successfully bridges the gap between complex Deep Learning models and practical healthcare delivery through a user-friendly web interface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the VGG16 architecture with a PHP/Flask backend, the system achieves high diagnostic accuracy (90%+) in detecting pneumonia patterns from Chest X-rays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time required for preliminary screening in high-volume or resource-limited clinical settings.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integrity and historical tracking via a structured MySQL database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meets all functional and non-functional requirements set during the analysis phase, proving to be a viable decision-support tool for modern healthcare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09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67840"/>
            <a:ext cx="7886700" cy="4409123"/>
          </a:xfrm>
        </p:spPr>
        <p:txBody>
          <a:bodyPr>
            <a:normAutofit fontScale="70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S. </a:t>
            </a:r>
            <a:r>
              <a:rPr lang="en-US" dirty="0" err="1"/>
              <a:t>Sukendra</a:t>
            </a:r>
            <a:r>
              <a:rPr lang="en-US" dirty="0"/>
              <a:t>, et.al, “Efficient pneumonia detection using Vision Transformers on chest X-rays” (January 2026) Available: Efficient pneumonia detection using Vision Transformers on chest X-rays | Scientific </a:t>
            </a:r>
            <a:r>
              <a:rPr lang="en-US" dirty="0" smtClean="0"/>
              <a:t>Reports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J. Chen et al., ”Deep Learning for Pneumonia Detection: A Comprehensive Survey,” Journal of Medical Imaging, vol. 8, no. 2, pp. 1-15, </a:t>
            </a:r>
            <a:r>
              <a:rPr lang="en-US" dirty="0" smtClean="0"/>
              <a:t>2021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R. Kumar et al., ”Application of ResNet101 for Pneumonia Detection in Chest X-Rays,” Medical Image Analysis, vol. 72, pp. 123-135, 2022 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O. Stephen, et.al, “An Efficient Deep Learning Approach to Pneumonia Classification in Healthcare” Available: An Efficient Deep Learning Approach to Pneumonia Classification in </a:t>
            </a:r>
            <a:r>
              <a:rPr lang="en-US" dirty="0" smtClean="0"/>
              <a:t>Healthcare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err="1"/>
              <a:t>Marrie</a:t>
            </a:r>
            <a:r>
              <a:rPr lang="en-US" dirty="0"/>
              <a:t>, T. (1994). Community-acquired pneumonia. Clinical Infectious Diseases. 18(4), </a:t>
            </a:r>
            <a:r>
              <a:rPr lang="en-US" dirty="0" smtClean="0"/>
              <a:t>501-513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“Chest X-Ray Images (Pneumonia)”, www.kaggle.com Available https://www.kaggle.com/datasets/paultimothymooney/chest-xray-pneumonia [Accessed 1st, Nov 2025] </a:t>
            </a:r>
          </a:p>
        </p:txBody>
      </p:sp>
    </p:spTree>
    <p:extLst>
      <p:ext uri="{BB962C8B-B14F-4D97-AF65-F5344CB8AC3E}">
        <p14:creationId xmlns:p14="http://schemas.microsoft.com/office/powerpoint/2010/main" val="1173252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2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1601</Words>
  <Application>Microsoft Office PowerPoint</Application>
  <PresentationFormat>On-screen Show (4:3)</PresentationFormat>
  <Paragraphs>246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 </vt:lpstr>
      <vt:lpstr>Introduction to project</vt:lpstr>
      <vt:lpstr>Objective of the Project</vt:lpstr>
      <vt:lpstr>Scope of Project</vt:lpstr>
      <vt:lpstr>Functional Requirement</vt:lpstr>
      <vt:lpstr>Feasibility Study</vt:lpstr>
      <vt:lpstr>PowerPoint Presentation</vt:lpstr>
      <vt:lpstr>PowerPoint Presentation</vt:lpstr>
      <vt:lpstr>PowerPoint Presentation</vt:lpstr>
      <vt:lpstr>Schedule</vt:lpstr>
      <vt:lpstr>Methodology</vt:lpstr>
      <vt:lpstr>Literature Review:</vt:lpstr>
      <vt:lpstr>System Design</vt:lpstr>
      <vt:lpstr>Class diagram</vt:lpstr>
      <vt:lpstr>Sequence diagram </vt:lpstr>
      <vt:lpstr>State Diagram</vt:lpstr>
      <vt:lpstr>Activity Diagram</vt:lpstr>
      <vt:lpstr>Component Diagram</vt:lpstr>
      <vt:lpstr>Deployment Diagram</vt:lpstr>
      <vt:lpstr>Tools Used</vt:lpstr>
      <vt:lpstr>Modules</vt:lpstr>
      <vt:lpstr>Login Module</vt:lpstr>
      <vt:lpstr>Scan Module</vt:lpstr>
      <vt:lpstr>Pneumonia Detection System</vt:lpstr>
      <vt:lpstr>CNN Algorithm</vt:lpstr>
      <vt:lpstr>Testing</vt:lpstr>
      <vt:lpstr>User Registration</vt:lpstr>
      <vt:lpstr>User Login</vt:lpstr>
      <vt:lpstr>Unit Testing</vt:lpstr>
      <vt:lpstr>System Testing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Roshik Maharjan</dc:creator>
  <cp:lastModifiedBy>Roshik Maharjan</cp:lastModifiedBy>
  <cp:revision>16</cp:revision>
  <dcterms:created xsi:type="dcterms:W3CDTF">2026-04-07T11:46:48Z</dcterms:created>
  <dcterms:modified xsi:type="dcterms:W3CDTF">2026-04-07T13:50:59Z</dcterms:modified>
</cp:coreProperties>
</file>