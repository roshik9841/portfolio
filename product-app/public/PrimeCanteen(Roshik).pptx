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EF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4660"/>
  </p:normalViewPr>
  <p:slideViewPr>
    <p:cSldViewPr snapToGrid="0">
      <p:cViewPr varScale="1">
        <p:scale>
          <a:sx n="87" d="100"/>
          <a:sy n="87" d="100"/>
        </p:scale>
        <p:origin x="61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1C4BD-C535-47CD-BE76-D7166FD0FE89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A823D-D809-40A7-BA9A-7823FDE7D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655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1C4BD-C535-47CD-BE76-D7166FD0FE89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A823D-D809-40A7-BA9A-7823FDE7D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506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1C4BD-C535-47CD-BE76-D7166FD0FE89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A823D-D809-40A7-BA9A-7823FDE7D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661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1C4BD-C535-47CD-BE76-D7166FD0FE89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A823D-D809-40A7-BA9A-7823FDE7D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961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1C4BD-C535-47CD-BE76-D7166FD0FE89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A823D-D809-40A7-BA9A-7823FDE7D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209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1C4BD-C535-47CD-BE76-D7166FD0FE89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A823D-D809-40A7-BA9A-7823FDE7D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408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1C4BD-C535-47CD-BE76-D7166FD0FE89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A823D-D809-40A7-BA9A-7823FDE7D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610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1C4BD-C535-47CD-BE76-D7166FD0FE89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A823D-D809-40A7-BA9A-7823FDE7D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253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1C4BD-C535-47CD-BE76-D7166FD0FE89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A823D-D809-40A7-BA9A-7823FDE7D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35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1C4BD-C535-47CD-BE76-D7166FD0FE89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A823D-D809-40A7-BA9A-7823FDE7D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816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1C4BD-C535-47CD-BE76-D7166FD0FE89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A823D-D809-40A7-BA9A-7823FDE7D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529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61C4BD-C535-47CD-BE76-D7166FD0FE89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DA823D-D809-40A7-BA9A-7823FDE7D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554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1990114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Project  Presentation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“Prime Canteen System”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209192"/>
            <a:ext cx="7156938" cy="2910254"/>
          </a:xfrm>
        </p:spPr>
        <p:txBody>
          <a:bodyPr>
            <a:noAutofit/>
          </a:bodyPr>
          <a:lstStyle/>
          <a:p>
            <a:pPr fontAlgn="base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fontAlgn="base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</a:t>
            </a:r>
          </a:p>
          <a:p>
            <a:pPr fontAlgn="base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Roshik Maharjan (41002143)</a:t>
            </a:r>
          </a:p>
          <a:p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Project  Presentation Submitted in partial fulfillment of the requirement of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Bachelor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Computer Application (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BCA) 4th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Semester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​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Tribhuvan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University,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Nepal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Feb, 2025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</a:t>
            </a:r>
          </a:p>
        </p:txBody>
      </p:sp>
      <p:pic>
        <p:nvPicPr>
          <p:cNvPr id="4" name="Picture 3" descr="C:\Users\roshi\AppData\Local\Microsoft\Windows\INetCache\Content.MSO\37BD43E2.tmp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3027" y="791540"/>
            <a:ext cx="1337945" cy="13258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67303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​</a:t>
            </a:r>
          </a:p>
          <a:p>
            <a:pPr marL="0" indent="0"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Objectives​</a:t>
            </a:r>
          </a:p>
          <a:p>
            <a:pPr marL="0" indent="0"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​</a:t>
            </a:r>
          </a:p>
          <a:p>
            <a:pPr marL="0" indent="0"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Requirement​</a:t>
            </a:r>
          </a:p>
          <a:p>
            <a:pPr marL="0" indent="0"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Study​</a:t>
            </a:r>
          </a:p>
          <a:p>
            <a:pPr marL="0" indent="0"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Methodology​</a:t>
            </a:r>
          </a:p>
          <a:p>
            <a:pPr marL="0" indent="0"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Design​</a:t>
            </a:r>
          </a:p>
          <a:p>
            <a:pPr marL="0" indent="0"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Used​</a:t>
            </a:r>
          </a:p>
          <a:p>
            <a:pPr marL="0" indent="0"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Conclusion​</a:t>
            </a:r>
          </a:p>
          <a:p>
            <a:pPr marL="0" indent="0"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References​</a:t>
            </a:r>
          </a:p>
          <a:p>
            <a:pPr marL="0" indent="0"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4864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Prime Canteen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an online platform that allows students and staff to purchase canteen items online and pay digitally.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allows users to receive email order confirmations and make payments using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Khalti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2346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students with an online platform for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orderin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foods online.</a:t>
            </a:r>
          </a:p>
          <a:p>
            <a:pPr lvl="0" algn="just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confirm the order via email integration and payment using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Khalti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 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8659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is accessible to students and staff of prime college with access to the internet.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easily browse the menu, place orders, and make payments online, eliminating the need to wait in long queues.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2462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Requirement​</a:t>
            </a: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647" y="1913233"/>
            <a:ext cx="4686706" cy="4176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268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Study​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Feasibility​</a:t>
            </a:r>
          </a:p>
          <a:p>
            <a:pPr fontAlgn="base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Feasibility​</a:t>
            </a:r>
          </a:p>
          <a:p>
            <a:pPr fontAlgn="base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Feasibility​</a:t>
            </a:r>
          </a:p>
          <a:p>
            <a:pPr fontAlgn="base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 Feasibility ​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7312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 Study​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fontAlgn="base"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the evaluation of the hardware and software and how it meets the need of proposed system.​</a:t>
            </a:r>
          </a:p>
          <a:p>
            <a:pPr algn="just" fontAlgn="base"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types of requirements in technical feasibility study:​</a:t>
            </a:r>
          </a:p>
          <a:p>
            <a:pPr lvl="1" algn="just" fontAlgn="base"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Requirement: This website is compatible with any browser and OS.​</a:t>
            </a:r>
          </a:p>
          <a:p>
            <a:pPr lvl="1" algn="just" fontAlgn="base"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Requirement: It was developed and ran on Intel Core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i7: 9th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 ​</a:t>
            </a:r>
          </a:p>
          <a:p>
            <a:pPr algn="just">
              <a:lnSpc>
                <a:spcPct val="1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5135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feasibility Study​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fontAlgn="base"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is a simple web-based application, therefore, the users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would’t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 any additional training in order to use this system.​</a:t>
            </a:r>
          </a:p>
          <a:p>
            <a:pPr algn="just" fontAlgn="base"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cannot be used without internet connection since it is a web-based application.​</a:t>
            </a:r>
          </a:p>
          <a:p>
            <a:pPr marL="0" indent="0" algn="just" fontAlgn="base">
              <a:lnSpc>
                <a:spcPct val="10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5133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feasibility Study​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It’s main goal is to weight the cost and benefit of the system.​</a:t>
            </a:r>
          </a:p>
          <a:p>
            <a:pPr algn="just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only cost encountered are printing cost, paper costs and internet and electricity expensed.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886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 Feasibility study​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the key aspect to determine whether the proposed project timeline is realistic or not.​</a:t>
            </a:r>
          </a:p>
          <a:p>
            <a:pPr algn="just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includes the project schedule and time allocated for their completion.​</a:t>
            </a:r>
          </a:p>
          <a:p>
            <a:pPr algn="just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Gantt table and Gantt chart are below:​</a:t>
            </a:r>
          </a:p>
          <a:p>
            <a:pPr marL="0" indent="0" fontAlgn="base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746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Gantt table​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1305" y="1825625"/>
            <a:ext cx="3961389" cy="4351338"/>
          </a:xfrm>
        </p:spPr>
      </p:pic>
    </p:spTree>
    <p:extLst>
      <p:ext uri="{BB962C8B-B14F-4D97-AF65-F5344CB8AC3E}">
        <p14:creationId xmlns:p14="http://schemas.microsoft.com/office/powerpoint/2010/main" val="2028987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Gantt Chart​</a:t>
            </a: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2339518"/>
            <a:ext cx="7886700" cy="3323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229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799248"/>
            <a:ext cx="7886700" cy="4351338"/>
          </a:xfrm>
        </p:spPr>
        <p:txBody>
          <a:bodyPr>
            <a:no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Incremental Model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C:\Users\roshi\Downloads\Untitled-1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7542" y="2519790"/>
            <a:ext cx="5372100" cy="3086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40671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Diagram​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0 DFD​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1 DFD​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Architecture​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Schema Design​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Design​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DFD Design​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964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Diagram​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6124" y="1825625"/>
            <a:ext cx="711175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255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0 DFD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4134" y="2897469"/>
            <a:ext cx="6835732" cy="2225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970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1 DFD​</a:t>
            </a:r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5184" y="2191702"/>
            <a:ext cx="5913632" cy="3673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501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Architecture​</a:t>
            </a: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3101" y="1802422"/>
            <a:ext cx="5521568" cy="4255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135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Schema Design​</a:t>
            </a: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3981" y="1825625"/>
            <a:ext cx="515603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870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Design​</a:t>
            </a: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9841" y="1825625"/>
            <a:ext cx="650431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741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DFD Diagram​</a:t>
            </a: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7987" y="1937561"/>
            <a:ext cx="6637595" cy="409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238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base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tools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fontAlgn="base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Html​</a:t>
            </a:r>
          </a:p>
          <a:p>
            <a:pPr fontAlgn="base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CSS​</a:t>
            </a:r>
          </a:p>
          <a:p>
            <a:pPr fontAlgn="base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JavaScript​</a:t>
            </a:r>
          </a:p>
          <a:p>
            <a:pPr fontAlgn="base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PHP​</a:t>
            </a:r>
          </a:p>
          <a:p>
            <a:pPr fontAlgn="base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MySQL​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8474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Cart Management Module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 Management Module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Admin Management Module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Featured Items Module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Payment Management Module</a:t>
            </a:r>
          </a:p>
        </p:txBody>
      </p:sp>
    </p:spTree>
    <p:extLst>
      <p:ext uri="{BB962C8B-B14F-4D97-AF65-F5344CB8AC3E}">
        <p14:creationId xmlns:p14="http://schemas.microsoft.com/office/powerpoint/2010/main" val="1196352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92174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Registration​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6168608"/>
              </p:ext>
            </p:extLst>
          </p:nvPr>
        </p:nvGraphicFramePr>
        <p:xfrm>
          <a:off x="1196846" y="1503484"/>
          <a:ext cx="6750307" cy="4673480"/>
        </p:xfrm>
        <a:graphic>
          <a:graphicData uri="http://schemas.openxmlformats.org/drawingml/2006/table">
            <a:tbl>
              <a:tblPr/>
              <a:tblGrid>
                <a:gridCol w="535823">
                  <a:extLst>
                    <a:ext uri="{9D8B030D-6E8A-4147-A177-3AD203B41FA5}">
                      <a16:colId xmlns:a16="http://schemas.microsoft.com/office/drawing/2014/main" val="3917362613"/>
                    </a:ext>
                  </a:extLst>
                </a:gridCol>
                <a:gridCol w="985312">
                  <a:extLst>
                    <a:ext uri="{9D8B030D-6E8A-4147-A177-3AD203B41FA5}">
                      <a16:colId xmlns:a16="http://schemas.microsoft.com/office/drawing/2014/main" val="70431071"/>
                    </a:ext>
                  </a:extLst>
                </a:gridCol>
                <a:gridCol w="1011824">
                  <a:extLst>
                    <a:ext uri="{9D8B030D-6E8A-4147-A177-3AD203B41FA5}">
                      <a16:colId xmlns:a16="http://schemas.microsoft.com/office/drawing/2014/main" val="3837644220"/>
                    </a:ext>
                  </a:extLst>
                </a:gridCol>
                <a:gridCol w="1565287">
                  <a:extLst>
                    <a:ext uri="{9D8B030D-6E8A-4147-A177-3AD203B41FA5}">
                      <a16:colId xmlns:a16="http://schemas.microsoft.com/office/drawing/2014/main" val="1343559490"/>
                    </a:ext>
                  </a:extLst>
                </a:gridCol>
                <a:gridCol w="1412163">
                  <a:extLst>
                    <a:ext uri="{9D8B030D-6E8A-4147-A177-3AD203B41FA5}">
                      <a16:colId xmlns:a16="http://schemas.microsoft.com/office/drawing/2014/main" val="3582502488"/>
                    </a:ext>
                  </a:extLst>
                </a:gridCol>
                <a:gridCol w="1239898">
                  <a:extLst>
                    <a:ext uri="{9D8B030D-6E8A-4147-A177-3AD203B41FA5}">
                      <a16:colId xmlns:a16="http://schemas.microsoft.com/office/drawing/2014/main" val="4027293668"/>
                    </a:ext>
                  </a:extLst>
                </a:gridCol>
              </a:tblGrid>
              <a:tr h="285533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Sno.​</a:t>
                      </a:r>
                      <a:endParaRPr lang="en-US" sz="16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79755" marR="79755" marT="39878" marB="398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Action​</a:t>
                      </a:r>
                      <a:endParaRPr lang="en-US" sz="16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79755" marR="79755" marT="39878" marB="398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Input​</a:t>
                      </a:r>
                      <a:endParaRPr lang="en-US" sz="16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79755" marR="79755" marT="39878" marB="398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Expected Outcome​</a:t>
                      </a:r>
                      <a:endParaRPr lang="en-US" sz="16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79755" marR="79755" marT="39878" marB="398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Actual Outcome​</a:t>
                      </a:r>
                      <a:endParaRPr lang="en-US" sz="16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79755" marR="79755" marT="39878" marB="398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Test Result​</a:t>
                      </a:r>
                      <a:endParaRPr lang="en-US" sz="16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79755" marR="79755" marT="39878" marB="398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597130"/>
                  </a:ext>
                </a:extLst>
              </a:tr>
              <a:tr h="723477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1​</a:t>
                      </a:r>
                      <a:endParaRPr lang="en-US" sz="16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79755" marR="79755" marT="39878" marB="398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Login​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9755" marR="79755" marT="39878" marB="398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Enter valid username and password​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9755" marR="79755" marT="39878" marB="398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User is successfully logged in​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9755" marR="79755" marT="39878" marB="398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User is successfully logged in​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9755" marR="79755" marT="39878" marB="398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Pass​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9755" marR="79755" marT="39878" marB="398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5758454"/>
                  </a:ext>
                </a:extLst>
              </a:tr>
              <a:tr h="723477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2​</a:t>
                      </a:r>
                      <a:endParaRPr lang="en-US" sz="16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79755" marR="79755" marT="39878" marB="398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Login​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9755" marR="79755" marT="39878" marB="398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Enter invalid username/password​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9755" marR="79755" marT="39878" marB="398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Error message displayed, login unsuccessful​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9755" marR="79755" marT="39878" marB="398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Error message displayed, login unsuccessful​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9755" marR="79755" marT="39878" marB="398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Pass​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9755" marR="79755" marT="39878" marB="398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387319"/>
                  </a:ext>
                </a:extLst>
              </a:tr>
              <a:tr h="685280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3​</a:t>
                      </a:r>
                      <a:endParaRPr lang="en-US" sz="16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79755" marR="79755" marT="39878" marB="398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Registration​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9755" marR="79755" marT="39878" marB="398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Enter valid registration details​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9755" marR="79755" marT="39878" marB="398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User account is successfully created​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9755" marR="79755" marT="39878" marB="398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User account is successfully created​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9755" marR="79755" marT="39878" marB="398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Pass​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9755" marR="79755" marT="39878" marB="398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4081428"/>
                  </a:ext>
                </a:extLst>
              </a:tr>
              <a:tr h="685280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4​</a:t>
                      </a:r>
                      <a:endParaRPr lang="en-US" sz="16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79755" marR="79755" marT="39878" marB="398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Password Confirmation​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9755" marR="79755" marT="39878" marB="398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Enter matching passwords​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9755" marR="79755" marT="39878" marB="398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Passwords match and validation passes​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9755" marR="79755" marT="39878" marB="398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Passwords match and validation passes​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9755" marR="79755" marT="39878" marB="398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Pass​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9755" marR="79755" marT="39878" marB="398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30178"/>
                  </a:ext>
                </a:extLst>
              </a:tr>
              <a:tr h="685280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5​</a:t>
                      </a:r>
                      <a:endParaRPr lang="en-US" sz="16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79755" marR="79755" marT="39878" marB="398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Email Validation​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9755" marR="79755" marT="39878" marB="398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Enter valid email format​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9755" marR="79755" marT="39878" marB="398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Email format is valid and passes validation​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9755" marR="79755" marT="39878" marB="398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Email format is valid and passes validation​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9755" marR="79755" marT="39878" marB="398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Pass​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9755" marR="79755" marT="39878" marB="398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874117"/>
                  </a:ext>
                </a:extLst>
              </a:tr>
              <a:tr h="885153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6​</a:t>
                      </a:r>
                      <a:endParaRPr lang="en-US" sz="16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79755" marR="79755" marT="39878" marB="398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Password Verification​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9755" marR="79755" marT="39878" marB="398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Enter password with special characters​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9755" marR="79755" marT="39878" marB="398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Password meets validation criteria​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9755" marR="79755" marT="39878" marB="398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Password meets validation criteria​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9755" marR="79755" marT="39878" marB="398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Pass​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9755" marR="79755" marT="39878" marB="398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51591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4361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To Cart​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0839778"/>
              </p:ext>
            </p:extLst>
          </p:nvPr>
        </p:nvGraphicFramePr>
        <p:xfrm>
          <a:off x="628650" y="1793632"/>
          <a:ext cx="7886700" cy="4083762"/>
        </p:xfrm>
        <a:graphic>
          <a:graphicData uri="http://schemas.openxmlformats.org/drawingml/2006/table">
            <a:tbl>
              <a:tblPr/>
              <a:tblGrid>
                <a:gridCol w="623007">
                  <a:extLst>
                    <a:ext uri="{9D8B030D-6E8A-4147-A177-3AD203B41FA5}">
                      <a16:colId xmlns:a16="http://schemas.microsoft.com/office/drawing/2014/main" val="2472071904"/>
                    </a:ext>
                  </a:extLst>
                </a:gridCol>
                <a:gridCol w="1444243">
                  <a:extLst>
                    <a:ext uri="{9D8B030D-6E8A-4147-A177-3AD203B41FA5}">
                      <a16:colId xmlns:a16="http://schemas.microsoft.com/office/drawing/2014/main" val="239973034"/>
                    </a:ext>
                  </a:extLst>
                </a:gridCol>
                <a:gridCol w="1536278">
                  <a:extLst>
                    <a:ext uri="{9D8B030D-6E8A-4147-A177-3AD203B41FA5}">
                      <a16:colId xmlns:a16="http://schemas.microsoft.com/office/drawing/2014/main" val="2797961009"/>
                    </a:ext>
                  </a:extLst>
                </a:gridCol>
                <a:gridCol w="1550437">
                  <a:extLst>
                    <a:ext uri="{9D8B030D-6E8A-4147-A177-3AD203B41FA5}">
                      <a16:colId xmlns:a16="http://schemas.microsoft.com/office/drawing/2014/main" val="2141761783"/>
                    </a:ext>
                  </a:extLst>
                </a:gridCol>
                <a:gridCol w="1826543">
                  <a:extLst>
                    <a:ext uri="{9D8B030D-6E8A-4147-A177-3AD203B41FA5}">
                      <a16:colId xmlns:a16="http://schemas.microsoft.com/office/drawing/2014/main" val="4190955700"/>
                    </a:ext>
                  </a:extLst>
                </a:gridCol>
                <a:gridCol w="906192">
                  <a:extLst>
                    <a:ext uri="{9D8B030D-6E8A-4147-A177-3AD203B41FA5}">
                      <a16:colId xmlns:a16="http://schemas.microsoft.com/office/drawing/2014/main" val="1375430212"/>
                    </a:ext>
                  </a:extLst>
                </a:gridCol>
              </a:tblGrid>
              <a:tr h="523954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3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Sno.</a:t>
                      </a:r>
                      <a:endParaRPr lang="en-US" sz="17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4955" marR="84955" marT="42478" marB="424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3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Action</a:t>
                      </a:r>
                      <a:endParaRPr lang="en-US" sz="17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4955" marR="84955" marT="42478" marB="424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3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Input</a:t>
                      </a:r>
                      <a:endParaRPr lang="en-US" sz="17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4955" marR="84955" marT="42478" marB="424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3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Expected Outcome</a:t>
                      </a:r>
                      <a:endParaRPr lang="en-US" sz="17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4955" marR="84955" marT="42478" marB="424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3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Actual Outcome</a:t>
                      </a:r>
                      <a:endParaRPr lang="en-US" sz="17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4955" marR="84955" marT="42478" marB="424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3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Test Result</a:t>
                      </a:r>
                      <a:endParaRPr lang="en-US" sz="17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4955" marR="84955" marT="42478" marB="424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5891917"/>
                  </a:ext>
                </a:extLst>
              </a:tr>
              <a:tr h="1017088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n-US" sz="17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4955" marR="84955" marT="42478" marB="424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Add Item to Cart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4955" marR="84955" marT="42478" marB="424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Click "Add to Cart" button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4955" marR="84955" marT="42478" marB="424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Item is added to the </a:t>
                      </a:r>
                      <a:r>
                        <a:rPr lang="en-US" sz="1300" b="0" i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Food </a:t>
                      </a:r>
                      <a:r>
                        <a:rPr lang="en-US" sz="13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cart</a:t>
                      </a:r>
                      <a:endParaRPr lang="en-US" sz="17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4955" marR="84955" marT="42478" marB="424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Item is successfully added to the </a:t>
                      </a:r>
                      <a:r>
                        <a:rPr lang="en-US" sz="1300" b="0" i="0" dirty="0" err="1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Foodcart</a:t>
                      </a:r>
                      <a:endParaRPr lang="en-US" sz="17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4955" marR="84955" marT="42478" marB="424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Pass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4955" marR="84955" marT="42478" marB="424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336557"/>
                  </a:ext>
                </a:extLst>
              </a:tr>
              <a:tr h="1017088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US" sz="17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4955" marR="84955" marT="42478" marB="424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Remove Item from Cart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4955" marR="84955" marT="42478" marB="424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Click "Remove" button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4955" marR="84955" marT="42478" marB="424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Item is removed from the </a:t>
                      </a:r>
                      <a:r>
                        <a:rPr lang="en-US" sz="1300" b="0" i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Food </a:t>
                      </a:r>
                      <a:r>
                        <a:rPr lang="en-US" sz="13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cart</a:t>
                      </a:r>
                      <a:endParaRPr lang="en-US" sz="17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4955" marR="84955" marT="42478" marB="424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Item is successfully removed from the </a:t>
                      </a:r>
                      <a:r>
                        <a:rPr lang="en-US" sz="1300" b="0" i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Food </a:t>
                      </a:r>
                      <a:r>
                        <a:rPr lang="en-US" sz="13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cart</a:t>
                      </a:r>
                      <a:endParaRPr lang="en-US" sz="17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4955" marR="84955" marT="42478" marB="424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Pass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4955" marR="84955" marT="42478" marB="424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440911"/>
                  </a:ext>
                </a:extLst>
              </a:tr>
              <a:tr h="762816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US" sz="17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4955" marR="84955" marT="42478" marB="424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Adding same item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4955" marR="84955" marT="42478" marB="424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Add same items to the cart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4955" marR="84955" marT="42478" marB="424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Item already in cart.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4955" marR="84955" marT="42478" marB="424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Item already in cart.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4955" marR="84955" marT="42478" marB="424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Pass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4955" marR="84955" marT="42478" marB="424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5502295"/>
                  </a:ext>
                </a:extLst>
              </a:tr>
              <a:tr h="762816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  <a:endParaRPr lang="en-US" sz="17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4955" marR="84955" marT="42478" marB="424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Add to cart without login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4955" marR="84955" marT="42478" marB="424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Click "Place Order" button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4955" marR="84955" marT="42478" marB="424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Please login first. Redirect to login form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4955" marR="84955" marT="42478" marB="424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Redirect to login form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4955" marR="84955" marT="42478" marB="424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Pass</a:t>
                      </a:r>
                      <a:endParaRPr lang="en-US" sz="17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4955" marR="84955" marT="42478" marB="4247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173467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942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Checkout Form​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5661724"/>
              </p:ext>
            </p:extLst>
          </p:nvPr>
        </p:nvGraphicFramePr>
        <p:xfrm>
          <a:off x="628650" y="1690689"/>
          <a:ext cx="7886700" cy="3301857"/>
        </p:xfrm>
        <a:graphic>
          <a:graphicData uri="http://schemas.openxmlformats.org/drawingml/2006/table">
            <a:tbl>
              <a:tblPr/>
              <a:tblGrid>
                <a:gridCol w="663819">
                  <a:extLst>
                    <a:ext uri="{9D8B030D-6E8A-4147-A177-3AD203B41FA5}">
                      <a16:colId xmlns:a16="http://schemas.microsoft.com/office/drawing/2014/main" val="1426505161"/>
                    </a:ext>
                  </a:extLst>
                </a:gridCol>
                <a:gridCol w="1191454">
                  <a:extLst>
                    <a:ext uri="{9D8B030D-6E8A-4147-A177-3AD203B41FA5}">
                      <a16:colId xmlns:a16="http://schemas.microsoft.com/office/drawing/2014/main" val="4202156480"/>
                    </a:ext>
                  </a:extLst>
                </a:gridCol>
                <a:gridCol w="1568744">
                  <a:extLst>
                    <a:ext uri="{9D8B030D-6E8A-4147-A177-3AD203B41FA5}">
                      <a16:colId xmlns:a16="http://schemas.microsoft.com/office/drawing/2014/main" val="2747330106"/>
                    </a:ext>
                  </a:extLst>
                </a:gridCol>
                <a:gridCol w="2285066">
                  <a:extLst>
                    <a:ext uri="{9D8B030D-6E8A-4147-A177-3AD203B41FA5}">
                      <a16:colId xmlns:a16="http://schemas.microsoft.com/office/drawing/2014/main" val="3143432890"/>
                    </a:ext>
                  </a:extLst>
                </a:gridCol>
                <a:gridCol w="1661866">
                  <a:extLst>
                    <a:ext uri="{9D8B030D-6E8A-4147-A177-3AD203B41FA5}">
                      <a16:colId xmlns:a16="http://schemas.microsoft.com/office/drawing/2014/main" val="2403248870"/>
                    </a:ext>
                  </a:extLst>
                </a:gridCol>
                <a:gridCol w="515751">
                  <a:extLst>
                    <a:ext uri="{9D8B030D-6E8A-4147-A177-3AD203B41FA5}">
                      <a16:colId xmlns:a16="http://schemas.microsoft.com/office/drawing/2014/main" val="3001543698"/>
                    </a:ext>
                  </a:extLst>
                </a:gridCol>
              </a:tblGrid>
              <a:tr h="878006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3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Sno.</a:t>
                      </a:r>
                      <a:endParaRPr lang="en-US" sz="17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5959" marR="85959" marT="42979" marB="42979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3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Action</a:t>
                      </a:r>
                      <a:endParaRPr lang="en-US" sz="17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5959" marR="85959" marT="42979" marB="42979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3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Input</a:t>
                      </a:r>
                      <a:endParaRPr lang="en-US" sz="17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5959" marR="85959" marT="42979" marB="42979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3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Expected Outcome</a:t>
                      </a:r>
                      <a:endParaRPr lang="en-US" sz="17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5959" marR="85959" marT="42979" marB="42979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3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Actual Outcome</a:t>
                      </a:r>
                      <a:endParaRPr lang="en-US" sz="17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5959" marR="85959" marT="42979" marB="42979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3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Test Result</a:t>
                      </a:r>
                      <a:endParaRPr lang="en-US" sz="17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5959" marR="85959" marT="42979" marB="42979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923323"/>
                  </a:ext>
                </a:extLst>
              </a:tr>
              <a:tr h="1097697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n-US" sz="17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5959" marR="85959" marT="42979" marB="42979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Fill Name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5959" marR="85959" marT="42979" marB="42979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Enter valid name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5959" marR="85959" marT="42979" marB="42979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Name is entered and validated</a:t>
                      </a:r>
                      <a:endParaRPr lang="en-US" sz="17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5959" marR="85959" marT="42979" marB="42979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Name is entered and validated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5959" marR="85959" marT="42979" marB="42979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Pass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5959" marR="85959" marT="42979" marB="42979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532223"/>
                  </a:ext>
                </a:extLst>
              </a:tr>
              <a:tr h="1326154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US" sz="17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5959" marR="85959" marT="42979" marB="42979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Fill Email Address</a:t>
                      </a:r>
                      <a:endParaRPr lang="en-US" sz="17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5959" marR="85959" marT="42979" marB="42979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Enter valid email address</a:t>
                      </a:r>
                      <a:endParaRPr lang="en-US" sz="17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5959" marR="85959" marT="42979" marB="42979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Email address is entered and validated</a:t>
                      </a:r>
                      <a:endParaRPr lang="en-US" sz="17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5959" marR="85959" marT="42979" marB="42979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Email address is entered and validated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5959" marR="85959" marT="42979" marB="42979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Pass</a:t>
                      </a:r>
                      <a:endParaRPr lang="en-US" sz="17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5959" marR="85959" marT="42979" marB="42979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697407"/>
                  </a:ext>
                </a:extLst>
              </a:tr>
            </a:tbl>
          </a:graphicData>
        </a:graphic>
      </p:graphicFrame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0162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Interface​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8290704"/>
              </p:ext>
            </p:extLst>
          </p:nvPr>
        </p:nvGraphicFramePr>
        <p:xfrm>
          <a:off x="1185166" y="1761926"/>
          <a:ext cx="6773667" cy="4478736"/>
        </p:xfrm>
        <a:graphic>
          <a:graphicData uri="http://schemas.openxmlformats.org/drawingml/2006/table">
            <a:tbl>
              <a:tblPr/>
              <a:tblGrid>
                <a:gridCol w="550242">
                  <a:extLst>
                    <a:ext uri="{9D8B030D-6E8A-4147-A177-3AD203B41FA5}">
                      <a16:colId xmlns:a16="http://schemas.microsoft.com/office/drawing/2014/main" val="3577350484"/>
                    </a:ext>
                  </a:extLst>
                </a:gridCol>
                <a:gridCol w="1170055">
                  <a:extLst>
                    <a:ext uri="{9D8B030D-6E8A-4147-A177-3AD203B41FA5}">
                      <a16:colId xmlns:a16="http://schemas.microsoft.com/office/drawing/2014/main" val="1570963789"/>
                    </a:ext>
                  </a:extLst>
                </a:gridCol>
                <a:gridCol w="1277573">
                  <a:extLst>
                    <a:ext uri="{9D8B030D-6E8A-4147-A177-3AD203B41FA5}">
                      <a16:colId xmlns:a16="http://schemas.microsoft.com/office/drawing/2014/main" val="515695190"/>
                    </a:ext>
                  </a:extLst>
                </a:gridCol>
                <a:gridCol w="1271248">
                  <a:extLst>
                    <a:ext uri="{9D8B030D-6E8A-4147-A177-3AD203B41FA5}">
                      <a16:colId xmlns:a16="http://schemas.microsoft.com/office/drawing/2014/main" val="445031031"/>
                    </a:ext>
                  </a:extLst>
                </a:gridCol>
                <a:gridCol w="1397741">
                  <a:extLst>
                    <a:ext uri="{9D8B030D-6E8A-4147-A177-3AD203B41FA5}">
                      <a16:colId xmlns:a16="http://schemas.microsoft.com/office/drawing/2014/main" val="1259508607"/>
                    </a:ext>
                  </a:extLst>
                </a:gridCol>
                <a:gridCol w="1106808">
                  <a:extLst>
                    <a:ext uri="{9D8B030D-6E8A-4147-A177-3AD203B41FA5}">
                      <a16:colId xmlns:a16="http://schemas.microsoft.com/office/drawing/2014/main" val="771730331"/>
                    </a:ext>
                  </a:extLst>
                </a:gridCol>
              </a:tblGrid>
              <a:tr h="430074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Sno.</a:t>
                      </a:r>
                      <a:endParaRPr lang="en-US" sz="15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75895" marR="75895" marT="37948" marB="3794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Action</a:t>
                      </a:r>
                      <a:endParaRPr lang="en-US" sz="15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75895" marR="75895" marT="37948" marB="3794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Input</a:t>
                      </a:r>
                      <a:endParaRPr lang="en-US" sz="15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75895" marR="75895" marT="37948" marB="3794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Expected Outcome</a:t>
                      </a:r>
                      <a:endParaRPr lang="en-US" sz="15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75895" marR="75895" marT="37948" marB="3794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Actual Outcome</a:t>
                      </a:r>
                      <a:endParaRPr lang="en-US" sz="15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75895" marR="75895" marT="37948" marB="3794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Test Result</a:t>
                      </a:r>
                      <a:endParaRPr lang="en-US" sz="15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75895" marR="75895" marT="37948" marB="3794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4047549"/>
                  </a:ext>
                </a:extLst>
              </a:tr>
              <a:tr h="961342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n-US" sz="15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75895" marR="75895" marT="37948" marB="3794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Access Login Page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5895" marR="75895" marT="37948" marB="3794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Navigate to the login page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5895" marR="75895" marT="37948" marB="3794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Login page is displayed with username and password fields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5895" marR="75895" marT="37948" marB="3794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Login page is displayed with username and password fields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5895" marR="75895" marT="37948" marB="3794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Pass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5895" marR="75895" marT="37948" marB="3794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4445892"/>
                  </a:ext>
                </a:extLst>
              </a:tr>
              <a:tr h="607163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US" sz="15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75895" marR="75895" marT="37948" marB="3794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Enter Valid Credentials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5895" marR="75895" marT="37948" marB="3794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Input valid username and password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5895" marR="75895" marT="37948" marB="3794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User is logged into the system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5895" marR="75895" marT="37948" marB="3794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User is successfully logged into the system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5895" marR="75895" marT="37948" marB="3794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Pass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5895" marR="75895" marT="37948" marB="3794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837758"/>
                  </a:ext>
                </a:extLst>
              </a:tr>
              <a:tr h="784253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US" sz="15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75895" marR="75895" marT="37948" marB="3794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Enter Invalid Credentials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5895" marR="75895" marT="37948" marB="3794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Input invalid username or password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5895" marR="75895" marT="37948" marB="3794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Error message is displayed indicating login failure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5895" marR="75895" marT="37948" marB="3794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Error message is displayed indicating login failure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5895" marR="75895" marT="37948" marB="3794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Pass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5895" marR="75895" marT="37948" marB="3794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1183736"/>
                  </a:ext>
                </a:extLst>
              </a:tr>
              <a:tr h="784253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  <a:endParaRPr lang="en-US" sz="15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75895" marR="75895" marT="37948" marB="3794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Access Dashboard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5895" marR="75895" marT="37948" marB="3794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Direct on dashboard link after successful login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5895" marR="75895" marT="37948" marB="3794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Dashboard page is displayed with relevant information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5895" marR="75895" marT="37948" marB="3794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Dashboard page is not displayed with relevant information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5895" marR="75895" marT="37948" marB="3794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Fail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5895" marR="75895" marT="37948" marB="3794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8804654"/>
                  </a:ext>
                </a:extLst>
              </a:tr>
              <a:tr h="784253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US" sz="15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75895" marR="75895" marT="37948" marB="3794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View Product Catalog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5895" marR="75895" marT="37948" marB="3794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Navigate to product catalog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5895" marR="75895" marT="37948" marB="3794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Product catalog is displayed with available </a:t>
                      </a:r>
                      <a:r>
                        <a:rPr lang="en-US" sz="1200" b="0" i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food </a:t>
                      </a: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items</a:t>
                      </a:r>
                      <a:endParaRPr lang="en-US" sz="15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5895" marR="75895" marT="37948" marB="3794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Product catalog is displayed with available </a:t>
                      </a:r>
                      <a:r>
                        <a:rPr lang="en-US" sz="1200" b="0" i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food </a:t>
                      </a: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items</a:t>
                      </a:r>
                      <a:endParaRPr lang="en-US" sz="15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5895" marR="75895" marT="37948" marB="3794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Pass</a:t>
                      </a:r>
                      <a:endParaRPr lang="en-US" sz="15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5895" marR="75895" marT="37948" marB="37948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8892460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056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628650" y="19669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9158445"/>
              </p:ext>
            </p:extLst>
          </p:nvPr>
        </p:nvGraphicFramePr>
        <p:xfrm>
          <a:off x="751742" y="683142"/>
          <a:ext cx="7886699" cy="4068950"/>
        </p:xfrm>
        <a:graphic>
          <a:graphicData uri="http://schemas.openxmlformats.org/drawingml/2006/table">
            <a:tbl>
              <a:tblPr/>
              <a:tblGrid>
                <a:gridCol w="640656">
                  <a:extLst>
                    <a:ext uri="{9D8B030D-6E8A-4147-A177-3AD203B41FA5}">
                      <a16:colId xmlns:a16="http://schemas.microsoft.com/office/drawing/2014/main" val="3935624811"/>
                    </a:ext>
                  </a:extLst>
                </a:gridCol>
                <a:gridCol w="1362315">
                  <a:extLst>
                    <a:ext uri="{9D8B030D-6E8A-4147-A177-3AD203B41FA5}">
                      <a16:colId xmlns:a16="http://schemas.microsoft.com/office/drawing/2014/main" val="4192261472"/>
                    </a:ext>
                  </a:extLst>
                </a:gridCol>
                <a:gridCol w="1487501">
                  <a:extLst>
                    <a:ext uri="{9D8B030D-6E8A-4147-A177-3AD203B41FA5}">
                      <a16:colId xmlns:a16="http://schemas.microsoft.com/office/drawing/2014/main" val="3086145276"/>
                    </a:ext>
                  </a:extLst>
                </a:gridCol>
                <a:gridCol w="1480137">
                  <a:extLst>
                    <a:ext uri="{9D8B030D-6E8A-4147-A177-3AD203B41FA5}">
                      <a16:colId xmlns:a16="http://schemas.microsoft.com/office/drawing/2014/main" val="3885833875"/>
                    </a:ext>
                  </a:extLst>
                </a:gridCol>
                <a:gridCol w="1627414">
                  <a:extLst>
                    <a:ext uri="{9D8B030D-6E8A-4147-A177-3AD203B41FA5}">
                      <a16:colId xmlns:a16="http://schemas.microsoft.com/office/drawing/2014/main" val="1702918809"/>
                    </a:ext>
                  </a:extLst>
                </a:gridCol>
                <a:gridCol w="1288676">
                  <a:extLst>
                    <a:ext uri="{9D8B030D-6E8A-4147-A177-3AD203B41FA5}">
                      <a16:colId xmlns:a16="http://schemas.microsoft.com/office/drawing/2014/main" val="881395896"/>
                    </a:ext>
                  </a:extLst>
                </a:gridCol>
              </a:tblGrid>
              <a:tr h="500743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Sno.</a:t>
                      </a:r>
                      <a:endParaRPr lang="en-US" sz="17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8366" marR="88366" marT="44183" marB="44183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Action</a:t>
                      </a:r>
                      <a:endParaRPr lang="en-US" sz="17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8366" marR="88366" marT="44183" marB="44183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Input</a:t>
                      </a:r>
                      <a:endParaRPr lang="en-US" sz="17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8366" marR="88366" marT="44183" marB="44183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Expected Outcome</a:t>
                      </a:r>
                      <a:endParaRPr lang="en-US" sz="17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8366" marR="88366" marT="44183" marB="44183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Actual Outcome</a:t>
                      </a:r>
                      <a:endParaRPr lang="en-US" sz="17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8366" marR="88366" marT="44183" marB="44183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Test Result</a:t>
                      </a:r>
                      <a:endParaRPr lang="en-US" sz="17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8366" marR="88366" marT="44183" marB="44183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883754"/>
                  </a:ext>
                </a:extLst>
              </a:tr>
              <a:tr h="706931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endParaRPr lang="en-US" sz="17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8366" marR="88366" marT="44183" marB="44183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Add Item to Cart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8366" marR="88366" marT="44183" marB="44183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Click "Add to Cart" button for a product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8366" marR="88366" marT="44183" marB="44183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Product is added to the </a:t>
                      </a:r>
                      <a:r>
                        <a:rPr lang="en-US" sz="1400" b="0" i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Food 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cart</a:t>
                      </a:r>
                      <a:endParaRPr lang="en-US" sz="17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8366" marR="88366" marT="44183" marB="44183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Product is successfully added to the </a:t>
                      </a:r>
                      <a:r>
                        <a:rPr lang="en-US" sz="1400" b="0" i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Food 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cart</a:t>
                      </a:r>
                      <a:endParaRPr lang="en-US" sz="17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8366" marR="88366" marT="44183" marB="44183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Pass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8366" marR="88366" marT="44183" marB="44183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6181186"/>
                  </a:ext>
                </a:extLst>
              </a:tr>
              <a:tr h="913119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US" sz="17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8366" marR="88366" marT="44183" marB="44183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View Shopping Cart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8366" marR="88366" marT="44183" marB="44183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Navigate to the </a:t>
                      </a:r>
                      <a:r>
                        <a:rPr lang="en-US" sz="1400" b="0" i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food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cart</a:t>
                      </a:r>
                      <a:endParaRPr lang="en-US" sz="17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8366" marR="88366" marT="44183" marB="44183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0" i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Food 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cart page is displayed with added items and total price</a:t>
                      </a:r>
                      <a:endParaRPr lang="en-US" sz="17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8366" marR="88366" marT="44183" marB="44183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0" i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Food 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cart page is displayed with added items and total price</a:t>
                      </a:r>
                      <a:endParaRPr lang="en-US" sz="17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8366" marR="88366" marT="44183" marB="44183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Pass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8366" marR="88366" marT="44183" marB="44183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1984478"/>
                  </a:ext>
                </a:extLst>
              </a:tr>
              <a:tr h="1119308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endParaRPr lang="en-US" sz="17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8366" marR="88366" marT="44183" marB="44183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Proceed to Checkout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8366" marR="88366" marT="44183" marB="44183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Click "Checkout" button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8366" marR="88366" marT="44183" marB="44183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Checkout page is displayed with order summary and payment options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8366" marR="88366" marT="44183" marB="44183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Checkout page is displayed with order summary and payment options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8366" marR="88366" marT="44183" marB="44183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Pass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8366" marR="88366" marT="44183" marB="44183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976560"/>
                  </a:ext>
                </a:extLst>
              </a:tr>
              <a:tr h="706931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endParaRPr lang="en-US" sz="17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8366" marR="88366" marT="44183" marB="44183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Place Order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8366" marR="88366" marT="44183" marB="44183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Click "Place Order" button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8366" marR="88366" marT="44183" marB="44183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Order is successfully placed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8366" marR="88366" marT="44183" marB="44183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Order is successfully placed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8366" marR="88366" marT="44183" marB="44183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Pass</a:t>
                      </a:r>
                      <a:endParaRPr lang="en-US" sz="17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8366" marR="88366" marT="44183" marB="44183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8661928"/>
                  </a:ext>
                </a:extLst>
              </a:tr>
            </a:tbl>
          </a:graphicData>
        </a:graphic>
      </p:graphicFrame>
      <p:sp>
        <p:nvSpPr>
          <p:cNvPr id="10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751742" y="-918551"/>
            <a:ext cx="7886700" cy="1325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9112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950" y="224449"/>
            <a:ext cx="78867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Interface​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336047"/>
              </p:ext>
            </p:extLst>
          </p:nvPr>
        </p:nvGraphicFramePr>
        <p:xfrm>
          <a:off x="628650" y="1266332"/>
          <a:ext cx="7860941" cy="4997718"/>
        </p:xfrm>
        <a:graphic>
          <a:graphicData uri="http://schemas.openxmlformats.org/drawingml/2006/table">
            <a:tbl>
              <a:tblPr/>
              <a:tblGrid>
                <a:gridCol w="741867">
                  <a:extLst>
                    <a:ext uri="{9D8B030D-6E8A-4147-A177-3AD203B41FA5}">
                      <a16:colId xmlns:a16="http://schemas.microsoft.com/office/drawing/2014/main" val="2348099981"/>
                    </a:ext>
                  </a:extLst>
                </a:gridCol>
                <a:gridCol w="1284001">
                  <a:extLst>
                    <a:ext uri="{9D8B030D-6E8A-4147-A177-3AD203B41FA5}">
                      <a16:colId xmlns:a16="http://schemas.microsoft.com/office/drawing/2014/main" val="1401343194"/>
                    </a:ext>
                  </a:extLst>
                </a:gridCol>
                <a:gridCol w="1383868">
                  <a:extLst>
                    <a:ext uri="{9D8B030D-6E8A-4147-A177-3AD203B41FA5}">
                      <a16:colId xmlns:a16="http://schemas.microsoft.com/office/drawing/2014/main" val="1769293161"/>
                    </a:ext>
                  </a:extLst>
                </a:gridCol>
                <a:gridCol w="1797602">
                  <a:extLst>
                    <a:ext uri="{9D8B030D-6E8A-4147-A177-3AD203B41FA5}">
                      <a16:colId xmlns:a16="http://schemas.microsoft.com/office/drawing/2014/main" val="3224344051"/>
                    </a:ext>
                  </a:extLst>
                </a:gridCol>
                <a:gridCol w="1712002">
                  <a:extLst>
                    <a:ext uri="{9D8B030D-6E8A-4147-A177-3AD203B41FA5}">
                      <a16:colId xmlns:a16="http://schemas.microsoft.com/office/drawing/2014/main" val="3443705852"/>
                    </a:ext>
                  </a:extLst>
                </a:gridCol>
                <a:gridCol w="941601">
                  <a:extLst>
                    <a:ext uri="{9D8B030D-6E8A-4147-A177-3AD203B41FA5}">
                      <a16:colId xmlns:a16="http://schemas.microsoft.com/office/drawing/2014/main" val="3763224270"/>
                    </a:ext>
                  </a:extLst>
                </a:gridCol>
              </a:tblGrid>
              <a:tr h="480141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3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Sno.</a:t>
                      </a:r>
                      <a:endParaRPr lang="en-US" sz="17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5600" marR="85600" marT="42800" marB="42800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3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Action</a:t>
                      </a:r>
                      <a:endParaRPr lang="en-US" sz="17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5600" marR="85600" marT="42800" marB="42800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3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Input</a:t>
                      </a:r>
                      <a:endParaRPr lang="en-US" sz="17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5600" marR="85600" marT="42800" marB="42800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3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Expected Outcome</a:t>
                      </a:r>
                      <a:endParaRPr lang="en-US" sz="17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5600" marR="85600" marT="42800" marB="42800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3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Actual Outcome</a:t>
                      </a:r>
                      <a:endParaRPr lang="en-US" sz="17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5600" marR="85600" marT="42800" marB="42800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3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Test Result</a:t>
                      </a:r>
                      <a:endParaRPr lang="en-US" sz="17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5600" marR="85600" marT="42800" marB="42800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766980"/>
                  </a:ext>
                </a:extLst>
              </a:tr>
              <a:tr h="480141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n-US" sz="17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5600" marR="85600" marT="42800" marB="42800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Log in as Admin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5600" marR="85600" marT="42800" marB="42800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Enter valid admin credentials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5600" marR="85600" marT="42800" marB="42800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Admin successfully logs in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5600" marR="85600" marT="42800" marB="42800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Admin successfully logs in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5600" marR="85600" marT="42800" marB="42800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Pass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5600" marR="85600" marT="42800" marB="42800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5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174351"/>
                  </a:ext>
                </a:extLst>
              </a:tr>
              <a:tr h="550751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US" sz="17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5600" marR="85600" marT="42800" marB="42800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Navigate to Product Page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5600" marR="85600" marT="42800" marB="42800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Click on "Add Product" option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5600" marR="85600" marT="42800" marB="42800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Redirects to the product addition page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5600" marR="85600" marT="42800" marB="42800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Redirects to the product addition page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5600" marR="85600" marT="42800" marB="42800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Pass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5600" marR="85600" marT="42800" marB="42800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5155831"/>
                  </a:ext>
                </a:extLst>
              </a:tr>
              <a:tr h="677847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US" sz="17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5600" marR="85600" marT="42800" marB="42800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Fill Product Details</a:t>
                      </a:r>
                      <a:endParaRPr lang="en-US" sz="17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5600" marR="85600" marT="42800" marB="42800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Enter valid product information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5600" marR="85600" marT="42800" marB="42800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Product details are entered correctly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5600" marR="85600" marT="42800" marB="42800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Product details are entered correctly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5600" marR="85600" marT="42800" marB="42800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Pass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5600" marR="85600" marT="42800" marB="42800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5667042"/>
                  </a:ext>
                </a:extLst>
              </a:tr>
              <a:tr h="480141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  <a:endParaRPr lang="en-US" sz="17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5600" marR="85600" marT="42800" marB="42800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Upload Product Image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5600" marR="85600" marT="42800" marB="42800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Select image file for the product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5600" marR="85600" marT="42800" marB="42800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Image is uploaded successfully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5600" marR="85600" marT="42800" marB="42800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Image is uploaded successfully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5600" marR="85600" marT="42800" marB="42800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Pass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5600" marR="85600" marT="42800" marB="42800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8005437"/>
                  </a:ext>
                </a:extLst>
              </a:tr>
              <a:tr h="480141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US" sz="17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5600" marR="85600" marT="42800" marB="42800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Set Product Price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5600" marR="85600" marT="42800" marB="42800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Enter valid price for the product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5600" marR="85600" marT="42800" marB="42800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Price is set and validated</a:t>
                      </a:r>
                      <a:endParaRPr lang="en-US" sz="17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5600" marR="85600" marT="42800" marB="42800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Price is set and validated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5600" marR="85600" marT="42800" marB="42800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Pass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5600" marR="85600" marT="42800" marB="42800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795360"/>
                  </a:ext>
                </a:extLst>
              </a:tr>
              <a:tr h="480141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endParaRPr lang="en-US" sz="17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5600" marR="85600" marT="42800" marB="42800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Add Product to Inventory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5600" marR="85600" marT="42800" marB="42800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Click "Add Product" button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5600" marR="85600" marT="42800" marB="42800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Product is added to the inventory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5600" marR="85600" marT="42800" marB="42800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Product is added to the inventory</a:t>
                      </a:r>
                      <a:endParaRPr lang="en-US" sz="17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5600" marR="85600" marT="42800" marB="42800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Pass</a:t>
                      </a:r>
                      <a:endParaRPr lang="en-US" sz="17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5600" marR="85600" marT="42800" marB="42800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837732"/>
                  </a:ext>
                </a:extLst>
              </a:tr>
              <a:tr h="677847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en-US" sz="17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5600" marR="85600" marT="42800" marB="42800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View Added Product</a:t>
                      </a:r>
                      <a:endParaRPr lang="en-US" sz="17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5600" marR="85600" marT="42800" marB="42800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Navigate to product listing page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5600" marR="85600" marT="42800" marB="42800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Newly added product is displayed in the inventory</a:t>
                      </a:r>
                      <a:endParaRPr lang="en-US" sz="17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5600" marR="85600" marT="42800" marB="42800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Newly added product is displayed in the inventory</a:t>
                      </a:r>
                      <a:endParaRPr lang="en-US" sz="17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5600" marR="85600" marT="42800" marB="42800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Pass</a:t>
                      </a:r>
                      <a:endParaRPr lang="en-US" sz="17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5600" marR="85600" marT="42800" marB="42800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9348375"/>
                  </a:ext>
                </a:extLst>
              </a:tr>
              <a:tr h="677847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300" b="1" i="0" dirty="0" smtClean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sz="1300" b="1" i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600" marR="85600" marT="42800" marB="42800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base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View </a:t>
                      </a:r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Order Status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base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Click </a:t>
                      </a:r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on the date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base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Lists </a:t>
                      </a:r>
                      <a:r>
                        <a:rPr lang="en-US" sz="13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of product sold in </a:t>
                      </a:r>
                      <a:endParaRPr lang="en-US" sz="1300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fontAlgn="base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1300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 day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base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Null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base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Fail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057479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707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conclusion, the "Prime Canteen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successfully integrated features like email and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Khalti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payment gateway, enhancing user engagement and ensuring secure transactions.​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development process underscored the importance of effective time management, balancing coding, testing, and documentation to meet deadlines.​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772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 ​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5794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82</TotalTime>
  <Words>1411</Words>
  <Application>Microsoft Office PowerPoint</Application>
  <PresentationFormat>On-screen Show (4:3)</PresentationFormat>
  <Paragraphs>317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Calibri Light</vt:lpstr>
      <vt:lpstr>Times New Roman</vt:lpstr>
      <vt:lpstr>Office Theme</vt:lpstr>
      <vt:lpstr> A Project  Presentation​ On​ “Prime Canteen System”</vt:lpstr>
      <vt:lpstr>Table of Content​</vt:lpstr>
      <vt:lpstr>Introduction ​</vt:lpstr>
      <vt:lpstr>Objectives​</vt:lpstr>
      <vt:lpstr>Scope​</vt:lpstr>
      <vt:lpstr>Functional Requirement​</vt:lpstr>
      <vt:lpstr>Feasibility Study​</vt:lpstr>
      <vt:lpstr>Technical feasibility Study​</vt:lpstr>
      <vt:lpstr>Operational feasibility Study​</vt:lpstr>
      <vt:lpstr>Economic feasibility Study​</vt:lpstr>
      <vt:lpstr>Schedule Feasibility study​</vt:lpstr>
      <vt:lpstr>Gantt table​</vt:lpstr>
      <vt:lpstr>Gantt Chart​</vt:lpstr>
      <vt:lpstr>Methodology</vt:lpstr>
      <vt:lpstr>System Design​</vt:lpstr>
      <vt:lpstr>ER Diagram​</vt:lpstr>
      <vt:lpstr>Level 0 DFD​</vt:lpstr>
      <vt:lpstr>Level 1 DFD​</vt:lpstr>
      <vt:lpstr>System Architecture​</vt:lpstr>
      <vt:lpstr>Database Schema Design​</vt:lpstr>
      <vt:lpstr>Interface Design​</vt:lpstr>
      <vt:lpstr>Physical DFD Diagram​</vt:lpstr>
      <vt:lpstr>Tools Used​</vt:lpstr>
      <vt:lpstr>Modules​</vt:lpstr>
      <vt:lpstr>User Registration​</vt:lpstr>
      <vt:lpstr>Add To Cart​</vt:lpstr>
      <vt:lpstr>Checkout Form​</vt:lpstr>
      <vt:lpstr>User Interface​</vt:lpstr>
      <vt:lpstr>  </vt:lpstr>
      <vt:lpstr>Admin Interface​</vt:lpstr>
      <vt:lpstr>Conclusion​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A Project  Presentation​ On​ “Prime Canteen System”</dc:title>
  <dc:creator>Roshik Maharjan</dc:creator>
  <cp:lastModifiedBy>Roshik Maharjan</cp:lastModifiedBy>
  <cp:revision>8</cp:revision>
  <dcterms:created xsi:type="dcterms:W3CDTF">2025-01-22T05:59:31Z</dcterms:created>
  <dcterms:modified xsi:type="dcterms:W3CDTF">2025-02-26T05:35:51Z</dcterms:modified>
</cp:coreProperties>
</file>