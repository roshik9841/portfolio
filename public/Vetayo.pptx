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use Facebook groups not because they work — but because there's no better option. They’re cluttered, unorganized, and lack trust. Vetayo is purpose-built to bring structure, security, and success to the lost &amp; found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Offers structured item reporting with detailed descriptions, images, and location for clear communication.
Enables users to search lost or found items using smart filters of category
Verifies item claims through matching of images, descriptions, and timestamps to avoid false ownership.
Applies a fair success fee only after verified return, split between finder and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Untapped Segments – From colleges to airports, malls to offices — there’s no dedicated platform serving these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image" Target="../media/image-7-25.png"/><Relationship Id="rId26" Type="http://schemas.openxmlformats.org/officeDocument/2006/relationships/image" Target="../media/image-7-26.png"/><Relationship Id="rId27" Type="http://schemas.openxmlformats.org/officeDocument/2006/relationships/image" Target="../media/image-7-27.png"/><Relationship Id="rId28" Type="http://schemas.openxmlformats.org/officeDocument/2006/relationships/image" Target="../media/image-7-28.png"/><Relationship Id="rId29" Type="http://schemas.openxmlformats.org/officeDocument/2006/relationships/image" Target="../media/image-7-29.png"/><Relationship Id="rId30" Type="http://schemas.openxmlformats.org/officeDocument/2006/relationships/image" Target="../media/image-7-30.png"/><Relationship Id="rId31" Type="http://schemas.openxmlformats.org/officeDocument/2006/relationships/image" Target="../media/image-7-31.png"/><Relationship Id="rId32" Type="http://schemas.openxmlformats.org/officeDocument/2006/relationships/image" Target="../media/image-7-32.png"/><Relationship Id="rId33" Type="http://schemas.openxmlformats.org/officeDocument/2006/relationships/image" Target="../media/image-7-33.png"/><Relationship Id="rId34" Type="http://schemas.openxmlformats.org/officeDocument/2006/relationships/image" Target="../media/image-7-34.png"/><Relationship Id="rId35" Type="http://schemas.openxmlformats.org/officeDocument/2006/relationships/image" Target="../media/image-7-35.png"/><Relationship Id="rId36" Type="http://schemas.openxmlformats.org/officeDocument/2006/relationships/image" Target="../media/image-7-36.png"/><Relationship Id="rId37" Type="http://schemas.openxmlformats.org/officeDocument/2006/relationships/image" Target="../media/image-7-37.png"/><Relationship Id="rId38" Type="http://schemas.openxmlformats.org/officeDocument/2006/relationships/image" Target="../media/image-7-38.png"/><Relationship Id="rId39" Type="http://schemas.openxmlformats.org/officeDocument/2006/relationships/image" Target="../media/image-7-39.png"/><Relationship Id="rId40" Type="http://schemas.openxmlformats.org/officeDocument/2006/relationships/image" Target="../media/image-7-40.png"/><Relationship Id="rId41" Type="http://schemas.openxmlformats.org/officeDocument/2006/relationships/image" Target="../media/image-7-41.png"/><Relationship Id="rId42" Type="http://schemas.openxmlformats.org/officeDocument/2006/relationships/image" Target="../media/image-7-42.png"/><Relationship Id="rId43" Type="http://schemas.openxmlformats.org/officeDocument/2006/relationships/image" Target="../media/image-7-43.png"/><Relationship Id="rId44" Type="http://schemas.openxmlformats.org/officeDocument/2006/relationships/image" Target="../media/image-7-44.png"/><Relationship Id="rId45" Type="http://schemas.openxmlformats.org/officeDocument/2006/relationships/image" Target="../media/image-7-45.png"/><Relationship Id="rId46" Type="http://schemas.openxmlformats.org/officeDocument/2006/relationships/image" Target="../media/image-7-46.png"/><Relationship Id="rId47" Type="http://schemas.openxmlformats.org/officeDocument/2006/relationships/image" Target="../media/image-7-47.png"/><Relationship Id="rId48" Type="http://schemas.openxmlformats.org/officeDocument/2006/relationships/image" Target="../media/image-7-48.png"/><Relationship Id="rId49" Type="http://schemas.openxmlformats.org/officeDocument/2006/relationships/image" Target="../media/image-7-49.png"/><Relationship Id="rId50" Type="http://schemas.openxmlformats.org/officeDocument/2006/relationships/image" Target="../media/image-7-50.png"/><Relationship Id="rId51" Type="http://schemas.openxmlformats.org/officeDocument/2006/relationships/image" Target="../media/image-7-51.png"/><Relationship Id="rId52" Type="http://schemas.openxmlformats.org/officeDocument/2006/relationships/image" Target="../media/image-7-52.png"/><Relationship Id="rId53" Type="http://schemas.openxmlformats.org/officeDocument/2006/relationships/image" Target="../media/image-7-53.png"/><Relationship Id="rId54" Type="http://schemas.openxmlformats.org/officeDocument/2006/relationships/image" Target="../media/image-7-54.png"/><Relationship Id="rId55" Type="http://schemas.openxmlformats.org/officeDocument/2006/relationships/image" Target="../media/image-7-55.png"/><Relationship Id="rId56" Type="http://schemas.openxmlformats.org/officeDocument/2006/relationships/image" Target="../media/image-7-56.png"/><Relationship Id="rId57" Type="http://schemas.openxmlformats.org/officeDocument/2006/relationships/image" Target="../media/image-7-57.png"/><Relationship Id="rId58" Type="http://schemas.openxmlformats.org/officeDocument/2006/relationships/image" Target="../media/image-7-58.png"/><Relationship Id="rId59" Type="http://schemas.openxmlformats.org/officeDocument/2006/relationships/image" Target="../media/image-7-59.png"/><Relationship Id="rId60" Type="http://schemas.openxmlformats.org/officeDocument/2006/relationships/image" Target="../media/image-7-60.png"/><Relationship Id="rId61" Type="http://schemas.openxmlformats.org/officeDocument/2006/relationships/image" Target="../media/image-7-61.png"/><Relationship Id="rId62" Type="http://schemas.openxmlformats.org/officeDocument/2006/relationships/image" Target="../media/image-7-62.png"/><Relationship Id="rId63" Type="http://schemas.openxmlformats.org/officeDocument/2006/relationships/image" Target="../media/image-7-63.png"/><Relationship Id="rId64" Type="http://schemas.openxmlformats.org/officeDocument/2006/relationships/image" Target="../media/image-7-64.png"/><Relationship Id="rId65" Type="http://schemas.openxmlformats.org/officeDocument/2006/relationships/image" Target="../media/image-7-65.png"/><Relationship Id="rId66" Type="http://schemas.openxmlformats.org/officeDocument/2006/relationships/image" Target="../media/image-7-66.png"/><Relationship Id="rId67" Type="http://schemas.openxmlformats.org/officeDocument/2006/relationships/image" Target="../media/image-7-67.png"/><Relationship Id="rId68" Type="http://schemas.openxmlformats.org/officeDocument/2006/relationships/image" Target="../media/image-7-68.png"/><Relationship Id="rId69" Type="http://schemas.openxmlformats.org/officeDocument/2006/relationships/image" Target="../media/image-7-69.png"/><Relationship Id="rId70" Type="http://schemas.openxmlformats.org/officeDocument/2006/relationships/image" Target="../media/image-7-70.png"/><Relationship Id="rId71" Type="http://schemas.openxmlformats.org/officeDocument/2006/relationships/image" Target="../media/image-7-71.png"/><Relationship Id="rId72" Type="http://schemas.openxmlformats.org/officeDocument/2006/relationships/image" Target="../media/image-7-72.png"/><Relationship Id="rId73" Type="http://schemas.openxmlformats.org/officeDocument/2006/relationships/image" Target="../media/image-7-73.png"/><Relationship Id="rId74" Type="http://schemas.openxmlformats.org/officeDocument/2006/relationships/image" Target="../media/image-7-74.png"/><Relationship Id="rId75" Type="http://schemas.openxmlformats.org/officeDocument/2006/relationships/image" Target="../media/image-7-75.png"/><Relationship Id="rId76" Type="http://schemas.openxmlformats.org/officeDocument/2006/relationships/image" Target="../media/image-7-76.png"/><Relationship Id="rId77" Type="http://schemas.openxmlformats.org/officeDocument/2006/relationships/image" Target="../media/image-7-77.png"/><Relationship Id="rId78" Type="http://schemas.openxmlformats.org/officeDocument/2006/relationships/image" Target="../media/image-7-78.png"/><Relationship Id="rId79" Type="http://schemas.openxmlformats.org/officeDocument/2006/relationships/image" Target="../media/image-7-79.png"/><Relationship Id="rId80" Type="http://schemas.openxmlformats.org/officeDocument/2006/relationships/image" Target="../media/image-7-80.png"/><Relationship Id="rId81" Type="http://schemas.openxmlformats.org/officeDocument/2006/relationships/image" Target="../media/image-7-81.png"/><Relationship Id="rId82" Type="http://schemas.openxmlformats.org/officeDocument/2006/relationships/image" Target="../media/image-7-82.png"/><Relationship Id="rId83" Type="http://schemas.openxmlformats.org/officeDocument/2006/relationships/image" Target="../media/image-7-83.png"/><Relationship Id="rId84" Type="http://schemas.openxmlformats.org/officeDocument/2006/relationships/image" Target="../media/image-7-84.png"/><Relationship Id="rId85" Type="http://schemas.openxmlformats.org/officeDocument/2006/relationships/image" Target="../media/image-7-85.png"/><Relationship Id="rId86" Type="http://schemas.openxmlformats.org/officeDocument/2006/relationships/image" Target="../media/image-7-86.png"/><Relationship Id="rId87" Type="http://schemas.openxmlformats.org/officeDocument/2006/relationships/image" Target="../media/image-7-87.png"/><Relationship Id="rId88" Type="http://schemas.openxmlformats.org/officeDocument/2006/relationships/image" Target="../media/image-7-88.png"/><Relationship Id="rId89" Type="http://schemas.openxmlformats.org/officeDocument/2006/relationships/image" Target="../media/image-7-89.png"/><Relationship Id="rId90" Type="http://schemas.openxmlformats.org/officeDocument/2006/relationships/image" Target="../media/image-7-90.png"/><Relationship Id="rId91" Type="http://schemas.openxmlformats.org/officeDocument/2006/relationships/image" Target="../media/image-7-91.png"/><Relationship Id="rId92" Type="http://schemas.openxmlformats.org/officeDocument/2006/relationships/image" Target="../media/image-7-92.png"/><Relationship Id="rId93" Type="http://schemas.openxmlformats.org/officeDocument/2006/relationships/image" Target="../media/image-7-93.png"/><Relationship Id="rId94" Type="http://schemas.openxmlformats.org/officeDocument/2006/relationships/image" Target="../media/image-7-94.png"/><Relationship Id="rId95" Type="http://schemas.openxmlformats.org/officeDocument/2006/relationships/image" Target="../media/image-7-95.png"/><Relationship Id="rId96" Type="http://schemas.openxmlformats.org/officeDocument/2006/relationships/image" Target="../media/image-7-96.png"/><Relationship Id="rId97" Type="http://schemas.openxmlformats.org/officeDocument/2006/relationships/image" Target="../media/image-7-97.png"/><Relationship Id="rId98" Type="http://schemas.openxmlformats.org/officeDocument/2006/relationships/image" Target="../media/image-7-98.png"/><Relationship Id="rId99" Type="http://schemas.openxmlformats.org/officeDocument/2006/relationships/image" Target="../media/image-7-99.png"/><Relationship Id="rId100" Type="http://schemas.openxmlformats.org/officeDocument/2006/relationships/image" Target="../media/image-7-100.png"/><Relationship Id="rId101" Type="http://schemas.openxmlformats.org/officeDocument/2006/relationships/image" Target="../media/image-7-101.png"/><Relationship Id="rId102" Type="http://schemas.openxmlformats.org/officeDocument/2006/relationships/image" Target="../media/image-7-102.png"/><Relationship Id="rId103" Type="http://schemas.openxmlformats.org/officeDocument/2006/relationships/image" Target="../media/image-7-103.png"/><Relationship Id="rId104" Type="http://schemas.openxmlformats.org/officeDocument/2006/relationships/image" Target="../media/image-7-104.png"/><Relationship Id="rId105" Type="http://schemas.openxmlformats.org/officeDocument/2006/relationships/image" Target="../media/image-7-105.png"/><Relationship Id="rId106" Type="http://schemas.openxmlformats.org/officeDocument/2006/relationships/image" Target="../media/image-7-106.png"/><Relationship Id="rId107" Type="http://schemas.openxmlformats.org/officeDocument/2006/relationships/image" Target="../media/image-7-107.png"/><Relationship Id="rId108" Type="http://schemas.openxmlformats.org/officeDocument/2006/relationships/image" Target="../media/image-7-108.png"/><Relationship Id="rId109" Type="http://schemas.openxmlformats.org/officeDocument/2006/relationships/image" Target="../media/image-7-109.png"/><Relationship Id="rId110" Type="http://schemas.openxmlformats.org/officeDocument/2006/relationships/image" Target="../media/image-7-110.png"/><Relationship Id="rId111" Type="http://schemas.openxmlformats.org/officeDocument/2006/relationships/image" Target="../media/image-7-111.png"/><Relationship Id="rId112" Type="http://schemas.openxmlformats.org/officeDocument/2006/relationships/image" Target="../media/image-7-112.png"/><Relationship Id="rId113" Type="http://schemas.openxmlformats.org/officeDocument/2006/relationships/image" Target="../media/image-7-113.png"/><Relationship Id="rId114" Type="http://schemas.openxmlformats.org/officeDocument/2006/relationships/image" Target="../media/image-7-114.png"/><Relationship Id="rId115" Type="http://schemas.openxmlformats.org/officeDocument/2006/relationships/image" Target="../media/image-7-115.png"/><Relationship Id="rId116" Type="http://schemas.openxmlformats.org/officeDocument/2006/relationships/image" Target="../media/image-7-116.png"/><Relationship Id="rId117" Type="http://schemas.openxmlformats.org/officeDocument/2006/relationships/image" Target="../media/image-7-117.png"/><Relationship Id="rId118" Type="http://schemas.openxmlformats.org/officeDocument/2006/relationships/image" Target="../media/image-7-118.png"/><Relationship Id="rId119" Type="http://schemas.openxmlformats.org/officeDocument/2006/relationships/slideLayout" Target="../slideLayouts/slideLayout1.xml"/><Relationship Id="rId1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7E9"/>
        </a:solidFill>
      </p:bgPr>
    </p:bg>
    <p:spTree>
      <p:nvGrpSpPr>
        <p:cNvPr id="1" name=""/>
        <p:cNvGrpSpPr/>
        <p:nvPr/>
      </p:nvGrpSpPr>
      <p:grpSpPr>
        <a:xfrm>
          <a:off x="0" y="0"/>
          <a:ext cx="0" cy="0"/>
          <a:chOff x="0" y="0"/>
          <a:chExt cx="0" cy="0"/>
        </a:xfrm>
      </p:grpSpPr>
      <p:sp>
        <p:nvSpPr>
          <p:cNvPr id="2" name="Shape 0"/>
          <p:cNvSpPr/>
          <p:nvPr/>
        </p:nvSpPr>
        <p:spPr>
          <a:xfrm>
            <a:off x="476250" y="3695700"/>
            <a:ext cx="1276350" cy="0"/>
          </a:xfrm>
          <a:prstGeom prst="line">
            <a:avLst/>
          </a:prstGeom>
          <a:noFill/>
          <a:ln w="38100">
            <a:solidFill>
              <a:srgbClr val="D42A20"/>
            </a:solidFill>
            <a:prstDash val="solid"/>
          </a:ln>
        </p:spPr>
      </p:sp>
      <p:pic>
        <p:nvPicPr>
          <p:cNvPr id="3" name="Image 0" descr="preencoded.png">    </p:cNvPr>
          <p:cNvPicPr>
            <a:picLocks noChangeAspect="1"/>
          </p:cNvPicPr>
          <p:nvPr/>
        </p:nvPicPr>
        <p:blipFill>
          <a:blip r:embed="rId1"/>
          <a:stretch>
            <a:fillRect/>
          </a:stretch>
        </p:blipFill>
        <p:spPr>
          <a:xfrm>
            <a:off x="2290763" y="1000125"/>
            <a:ext cx="4562475" cy="1276350"/>
          </a:xfrm>
          <a:prstGeom prst="rect">
            <a:avLst/>
          </a:prstGeom>
        </p:spPr>
      </p:pic>
      <p:sp>
        <p:nvSpPr>
          <p:cNvPr id="4" name="Text 1"/>
          <p:cNvSpPr/>
          <p:nvPr/>
        </p:nvSpPr>
        <p:spPr>
          <a:xfrm>
            <a:off x="476250" y="381000"/>
            <a:ext cx="1233488" cy="166688"/>
          </a:xfrm>
          <a:prstGeom prst="rect">
            <a:avLst/>
          </a:prstGeom>
          <a:noFill/>
          <a:ln/>
        </p:spPr>
        <p:txBody>
          <a:bodyPr wrap="square" rtlCol="0" anchor="ctr"/>
          <a:lstStyle/>
          <a:p>
            <a:pPr algn="l" indent="0" marL="0">
              <a:lnSpc>
                <a:spcPts val="1320"/>
              </a:lnSpc>
              <a:buNone/>
            </a:pPr>
            <a:r>
              <a:rPr lang="en-US" sz="1050" b="1" dirty="0">
                <a:solidFill>
                  <a:srgbClr val="16161D">
                    <a:alpha val="99000"/>
                  </a:srgbClr>
                </a:solidFill>
                <a:latin typeface="Source Sans Pro" pitchFamily="34" charset="0"/>
                <a:ea typeface="Source Sans Pro" pitchFamily="34" charset="-122"/>
                <a:cs typeface="Source Sans Pro" pitchFamily="34" charset="-120"/>
              </a:rPr>
              <a:t>26 JUNE 2024</a:t>
            </a:r>
            <a:endParaRPr lang="en-US" sz="1050" dirty="0"/>
          </a:p>
        </p:txBody>
      </p:sp>
      <p:sp>
        <p:nvSpPr>
          <p:cNvPr id="5" name="Text 2"/>
          <p:cNvSpPr/>
          <p:nvPr/>
        </p:nvSpPr>
        <p:spPr>
          <a:xfrm>
            <a:off x="333375" y="2571750"/>
            <a:ext cx="8939213" cy="800100"/>
          </a:xfrm>
          <a:prstGeom prst="rect">
            <a:avLst/>
          </a:prstGeom>
          <a:noFill/>
          <a:ln/>
        </p:spPr>
        <p:txBody>
          <a:bodyPr wrap="square" rtlCol="0" anchor="ctr"/>
          <a:lstStyle/>
          <a:p>
            <a:pPr algn="ctr" indent="0" marL="0">
              <a:lnSpc>
                <a:spcPts val="6300"/>
              </a:lnSpc>
              <a:buNone/>
            </a:pPr>
            <a:r>
              <a:rPr lang="en-US" sz="5250" dirty="0">
                <a:solidFill>
                  <a:srgbClr val="16161D">
                    <a:alpha val="99000"/>
                  </a:srgbClr>
                </a:solidFill>
                <a:latin typeface="Source Serif Pro" pitchFamily="34" charset="0"/>
                <a:ea typeface="Source Serif Pro" pitchFamily="34" charset="-122"/>
                <a:cs typeface="Source Serif Pro" pitchFamily="34" charset="-120"/>
              </a:rPr>
              <a:t>An lost and found System</a:t>
            </a:r>
            <a:endParaRPr lang="en-US" sz="5250" dirty="0"/>
          </a:p>
        </p:txBody>
      </p:sp>
      <p:sp>
        <p:nvSpPr>
          <p:cNvPr id="6" name="Text 3"/>
          <p:cNvSpPr/>
          <p:nvPr/>
        </p:nvSpPr>
        <p:spPr>
          <a:xfrm>
            <a:off x="333375" y="3900488"/>
            <a:ext cx="8939213" cy="395288"/>
          </a:xfrm>
          <a:prstGeom prst="rect">
            <a:avLst/>
          </a:prstGeom>
          <a:noFill/>
          <a:ln/>
        </p:spPr>
        <p:txBody>
          <a:bodyPr wrap="square" rtlCol="0" anchor="ctr"/>
          <a:lstStyle/>
          <a:p>
            <a:pPr algn="ctr" indent="0" marL="0">
              <a:lnSpc>
                <a:spcPts val="3120"/>
              </a:lnSpc>
              <a:buNone/>
            </a:pPr>
            <a:r>
              <a:rPr lang="en-US" sz="2400" spc="-53" kern="0" dirty="0">
                <a:solidFill>
                  <a:srgbClr val="16161D">
                    <a:alpha val="99000"/>
                  </a:srgbClr>
                </a:solidFill>
                <a:latin typeface="Source Serif Pro" pitchFamily="34" charset="0"/>
                <a:ea typeface="Source Serif Pro" pitchFamily="34" charset="-122"/>
                <a:cs typeface="Source Serif Pro" pitchFamily="34" charset="-120"/>
              </a:rPr>
              <a:t>By: House of Flairs </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7E9"/>
        </a:solidFill>
      </p:bgPr>
    </p:bg>
    <p:spTree>
      <p:nvGrpSpPr>
        <p:cNvPr id="1" name=""/>
        <p:cNvGrpSpPr/>
        <p:nvPr/>
      </p:nvGrpSpPr>
      <p:grpSpPr>
        <a:xfrm>
          <a:off x="0" y="0"/>
          <a:ext cx="0" cy="0"/>
          <a:chOff x="0" y="0"/>
          <a:chExt cx="0" cy="0"/>
        </a:xfrm>
      </p:grpSpPr>
      <p:sp>
        <p:nvSpPr>
          <p:cNvPr id="3" name="Shape 0"/>
          <p:cNvSpPr/>
          <p:nvPr/>
        </p:nvSpPr>
        <p:spPr>
          <a:xfrm rot="5400000">
            <a:off x="2000250" y="2571750"/>
            <a:ext cx="5143500" cy="0"/>
          </a:xfrm>
          <a:prstGeom prst="line">
            <a:avLst/>
          </a:prstGeom>
          <a:noFill/>
          <a:ln w="38100">
            <a:solidFill>
              <a:srgbClr val="FCF7E9"/>
            </a:solidFill>
            <a:prstDash val="solid"/>
          </a:ln>
        </p:spPr>
      </p:sp>
      <p:sp>
        <p:nvSpPr>
          <p:cNvPr id="4" name="Shape 1"/>
          <p:cNvSpPr/>
          <p:nvPr/>
        </p:nvSpPr>
        <p:spPr>
          <a:xfrm rot="5400000">
            <a:off x="2000250" y="2571750"/>
            <a:ext cx="5143500" cy="0"/>
          </a:xfrm>
          <a:prstGeom prst="line">
            <a:avLst/>
          </a:prstGeom>
          <a:noFill/>
          <a:ln w="38100">
            <a:solidFill>
              <a:srgbClr val="88888C">
                <a:alpha val="30000"/>
              </a:srgbClr>
            </a:solidFill>
            <a:prstDash val="solid"/>
          </a:ln>
        </p:spPr>
      </p:sp>
      <p:sp>
        <p:nvSpPr>
          <p:cNvPr id="5" name="Text 2"/>
          <p:cNvSpPr/>
          <p:nvPr/>
        </p:nvSpPr>
        <p:spPr>
          <a:xfrm>
            <a:off x="476250" y="866775"/>
            <a:ext cx="1685925" cy="395288"/>
          </a:xfrm>
          <a:prstGeom prst="rect">
            <a:avLst/>
          </a:prstGeom>
          <a:noFill/>
          <a:ln/>
        </p:spPr>
        <p:txBody>
          <a:bodyPr wrap="square" rtlCol="0" anchor="ctr"/>
          <a:lstStyle/>
          <a:p>
            <a:pPr algn="l" indent="0" marL="0">
              <a:lnSpc>
                <a:spcPts val="3097"/>
              </a:lnSpc>
              <a:buNone/>
            </a:pPr>
            <a:r>
              <a:rPr lang="en-US" sz="2464" b="1" dirty="0">
                <a:solidFill>
                  <a:srgbClr val="16161D">
                    <a:alpha val="99000"/>
                  </a:srgbClr>
                </a:solidFill>
                <a:latin typeface="Source Sans Pro" pitchFamily="34" charset="0"/>
                <a:ea typeface="Source Sans Pro" pitchFamily="34" charset="-122"/>
                <a:cs typeface="Source Sans Pro" pitchFamily="34" charset="-120"/>
              </a:rPr>
              <a:t>AGENDA</a:t>
            </a:r>
            <a:endParaRPr lang="en-US" sz="2464" dirty="0"/>
          </a:p>
        </p:txBody>
      </p:sp>
      <p:sp>
        <p:nvSpPr>
          <p:cNvPr id="6" name="Text 3"/>
          <p:cNvSpPr/>
          <p:nvPr/>
        </p:nvSpPr>
        <p:spPr>
          <a:xfrm>
            <a:off x="476250" y="1452563"/>
            <a:ext cx="3957638" cy="2286000"/>
          </a:xfrm>
          <a:prstGeom prst="rect">
            <a:avLst/>
          </a:prstGeom>
          <a:noFill/>
          <a:ln/>
        </p:spPr>
        <p:txBody>
          <a:bodyPr wrap="square" rtlCol="0" anchor="ctr"/>
          <a:lstStyle/>
          <a:p>
            <a:pPr algn="l" indent="0" marL="0">
              <a:lnSpc>
                <a:spcPts val="2260"/>
              </a:lnSpc>
              <a:buNone/>
            </a:pPr>
            <a:r>
              <a:rPr lang="en-US" sz="1739" spc="-38" kern="0" dirty="0">
                <a:solidFill>
                  <a:srgbClr val="000000">
                    <a:alpha val="99000"/>
                  </a:srgbClr>
                </a:solidFill>
                <a:latin typeface="Source Serif Pro" pitchFamily="34" charset="0"/>
                <a:ea typeface="Source Serif Pro" pitchFamily="34" charset="-122"/>
                <a:cs typeface="Source Serif Pro" pitchFamily="34" charset="-120"/>
              </a:rPr>
              <a:t>Let’s face it — when we lose something valuable in Nepal, like a document or wallet with personal items, we panic.</a:t>
            </a:r>
            <a:endParaRPr lang="en-US" sz="1739" dirty="0"/>
          </a:p>
          <a:p>
            <a:pPr algn="l" indent="0" marL="0">
              <a:lnSpc>
                <a:spcPts val="2260"/>
              </a:lnSpc>
              <a:buNone/>
            </a:pPr>
            <a:r>
              <a:rPr lang="en-US" sz="1739" spc="-38" kern="0" dirty="0">
                <a:solidFill>
                  <a:srgbClr val="000000">
                    <a:alpha val="99000"/>
                  </a:srgbClr>
                </a:solidFill>
                <a:latin typeface="Source Serif Pro" pitchFamily="34" charset="0"/>
                <a:ea typeface="Source Serif Pro" pitchFamily="34" charset="-122"/>
                <a:cs typeface="Source Serif Pro" pitchFamily="34" charset="-120"/>
              </a:rPr>
              <a:t> We post in random Facebook groups, ask around, or stick to media surveys on walls.</a:t>
            </a:r>
            <a:endParaRPr lang="en-US" sz="1739" dirty="0"/>
          </a:p>
        </p:txBody>
      </p:sp>
      <p:sp>
        <p:nvSpPr>
          <p:cNvPr id="7" name="Text 4"/>
          <p:cNvSpPr/>
          <p:nvPr/>
        </p:nvSpPr>
        <p:spPr>
          <a:xfrm>
            <a:off x="5048250" y="1647825"/>
            <a:ext cx="4029075" cy="1895475"/>
          </a:xfrm>
          <a:prstGeom prst="rect">
            <a:avLst/>
          </a:prstGeom>
          <a:noFill/>
          <a:ln/>
        </p:spPr>
        <p:txBody>
          <a:bodyPr wrap="square" rtlCol="0" anchor="ctr"/>
          <a:lstStyle/>
          <a:p>
            <a:pPr algn="l" marL="342900" indent="-342900">
              <a:lnSpc>
                <a:spcPts val="1969"/>
              </a:lnSpc>
              <a:buSzPct val="100000"/>
              <a:buFont typeface="+mj-lt"/>
              <a:buAutoNum type="arabicPeriod" startAt="1"/>
            </a:pPr>
            <a:r>
              <a:rPr lang="en-US" sz="1575" dirty="0">
                <a:solidFill>
                  <a:srgbClr val="16161D">
                    <a:alpha val="99000"/>
                  </a:srgbClr>
                </a:solidFill>
                <a:latin typeface="Source Sans Pro" pitchFamily="34" charset="0"/>
                <a:ea typeface="Source Sans Pro" pitchFamily="34" charset="-122"/>
                <a:cs typeface="Source Sans Pro" pitchFamily="34" charset="-120"/>
              </a:rPr>
              <a:t>There’s no dedicated platform to report lost items.</a:t>
            </a:r>
            <a:endParaRPr lang="en-US" sz="1575" dirty="0"/>
          </a:p>
          <a:p>
            <a:pPr algn="l" marL="342900" indent="-342900">
              <a:lnSpc>
                <a:spcPts val="1969"/>
              </a:lnSpc>
              <a:buSzPct val="100000"/>
              <a:buFont typeface="+mj-lt"/>
              <a:buAutoNum type="arabicPeriod" startAt="1"/>
            </a:pPr>
            <a:r>
              <a:rPr lang="en-US" sz="1575" dirty="0">
                <a:solidFill>
                  <a:srgbClr val="16161D">
                    <a:alpha val="99000"/>
                  </a:srgbClr>
                </a:solidFill>
                <a:latin typeface="Source Sans Pro" pitchFamily="34" charset="0"/>
                <a:ea typeface="Source Sans Pro" pitchFamily="34" charset="-122"/>
                <a:cs typeface="Source Sans Pro" pitchFamily="34" charset="-120"/>
              </a:rPr>
              <a:t>There’s no way to track or verify ownership.</a:t>
            </a:r>
            <a:endParaRPr lang="en-US" sz="1575" dirty="0"/>
          </a:p>
          <a:p>
            <a:pPr algn="l" marL="342900" indent="-342900">
              <a:lnSpc>
                <a:spcPts val="1969"/>
              </a:lnSpc>
              <a:buSzPct val="100000"/>
              <a:buFont typeface="+mj-lt"/>
              <a:buAutoNum type="arabicPeriod" startAt="1"/>
            </a:pPr>
            <a:r>
              <a:rPr lang="en-US" sz="1575" dirty="0">
                <a:solidFill>
                  <a:srgbClr val="16161D">
                    <a:alpha val="99000"/>
                  </a:srgbClr>
                </a:solidFill>
                <a:latin typeface="Source Sans Pro" pitchFamily="34" charset="0"/>
                <a:ea typeface="Source Sans Pro" pitchFamily="34" charset="-122"/>
                <a:cs typeface="Source Sans Pro" pitchFamily="34" charset="-120"/>
              </a:rPr>
              <a:t>There’s no assurance that what’s lost will ever be found.</a:t>
            </a:r>
            <a:endParaRPr lang="en-US" sz="15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7E9"/>
        </a:solidFill>
      </p:bgPr>
    </p:bg>
    <p:spTree>
      <p:nvGrpSpPr>
        <p:cNvPr id="1" name=""/>
        <p:cNvGrpSpPr/>
        <p:nvPr/>
      </p:nvGrpSpPr>
      <p:grpSpPr>
        <a:xfrm>
          <a:off x="0" y="0"/>
          <a:ext cx="0" cy="0"/>
          <a:chOff x="0" y="0"/>
          <a:chExt cx="0" cy="0"/>
        </a:xfrm>
      </p:grpSpPr>
      <p:sp>
        <p:nvSpPr>
          <p:cNvPr id="2" name="Shape 0"/>
          <p:cNvSpPr/>
          <p:nvPr/>
        </p:nvSpPr>
        <p:spPr>
          <a:xfrm rot="5400000">
            <a:off x="2000250" y="2571750"/>
            <a:ext cx="5143500" cy="0"/>
          </a:xfrm>
          <a:prstGeom prst="line">
            <a:avLst/>
          </a:prstGeom>
          <a:noFill/>
          <a:ln w="38100">
            <a:solidFill>
              <a:srgbClr val="88888C">
                <a:alpha val="30000"/>
              </a:srgbClr>
            </a:solidFill>
            <a:prstDash val="solid"/>
          </a:ln>
        </p:spPr>
      </p:sp>
      <p:sp>
        <p:nvSpPr>
          <p:cNvPr id="3" name="Shape 1"/>
          <p:cNvSpPr/>
          <p:nvPr/>
        </p:nvSpPr>
        <p:spPr>
          <a:xfrm>
            <a:off x="228600" y="785813"/>
            <a:ext cx="4343400" cy="3976687"/>
          </a:xfrm>
          <a:prstGeom prst="rect">
            <a:avLst/>
          </a:prstGeom>
          <a:solidFill>
            <a:srgbClr val="FEFBF4"/>
          </a:solidFill>
          <a:ln/>
        </p:spPr>
      </p:sp>
      <p:sp>
        <p:nvSpPr>
          <p:cNvPr id="4" name="Shape 2"/>
          <p:cNvSpPr/>
          <p:nvPr/>
        </p:nvSpPr>
        <p:spPr>
          <a:xfrm>
            <a:off x="4572000" y="681038"/>
            <a:ext cx="4572000" cy="4462463"/>
          </a:xfrm>
          <a:prstGeom prst="rect">
            <a:avLst/>
          </a:prstGeom>
          <a:solidFill>
            <a:srgbClr val="FEFBF4"/>
          </a:solidFill>
          <a:ln/>
        </p:spPr>
      </p:sp>
      <p:pic>
        <p:nvPicPr>
          <p:cNvPr id="5" name="Image 0" descr="preencoded.png">    </p:cNvPr>
          <p:cNvPicPr>
            <a:picLocks noChangeAspect="1"/>
          </p:cNvPicPr>
          <p:nvPr/>
        </p:nvPicPr>
        <p:blipFill>
          <a:blip r:embed="rId1"/>
          <a:stretch>
            <a:fillRect/>
          </a:stretch>
        </p:blipFill>
        <p:spPr>
          <a:xfrm>
            <a:off x="2824163" y="2776538"/>
            <a:ext cx="1747838" cy="1828800"/>
          </a:xfrm>
          <a:prstGeom prst="rect">
            <a:avLst/>
          </a:prstGeom>
        </p:spPr>
      </p:pic>
      <p:pic>
        <p:nvPicPr>
          <p:cNvPr id="6" name="Image 1" descr="preencoded.png">    </p:cNvPr>
          <p:cNvPicPr>
            <a:picLocks noChangeAspect="1"/>
          </p:cNvPicPr>
          <p:nvPr/>
        </p:nvPicPr>
        <p:blipFill>
          <a:blip r:embed="rId2"/>
          <a:stretch>
            <a:fillRect/>
          </a:stretch>
        </p:blipFill>
        <p:spPr>
          <a:xfrm>
            <a:off x="228600" y="2795588"/>
            <a:ext cx="2634414" cy="1809513"/>
          </a:xfrm>
          <a:prstGeom prst="rect">
            <a:avLst/>
          </a:prstGeom>
        </p:spPr>
      </p:pic>
      <p:pic>
        <p:nvPicPr>
          <p:cNvPr id="7" name="Image 2" descr="preencoded.png">    </p:cNvPr>
          <p:cNvPicPr>
            <a:picLocks noChangeAspect="1"/>
          </p:cNvPicPr>
          <p:nvPr/>
        </p:nvPicPr>
        <p:blipFill>
          <a:blip r:embed="rId3"/>
          <a:stretch>
            <a:fillRect/>
          </a:stretch>
        </p:blipFill>
        <p:spPr>
          <a:xfrm>
            <a:off x="228600" y="1171575"/>
            <a:ext cx="3367088" cy="1566863"/>
          </a:xfrm>
          <a:prstGeom prst="rect">
            <a:avLst/>
          </a:prstGeom>
        </p:spPr>
      </p:pic>
      <p:pic>
        <p:nvPicPr>
          <p:cNvPr id="8" name="Image 3" descr="preencoded.png">    </p:cNvPr>
          <p:cNvPicPr>
            <a:picLocks noChangeAspect="1"/>
          </p:cNvPicPr>
          <p:nvPr/>
        </p:nvPicPr>
        <p:blipFill>
          <a:blip r:embed="rId4"/>
          <a:stretch>
            <a:fillRect/>
          </a:stretch>
        </p:blipFill>
        <p:spPr>
          <a:xfrm>
            <a:off x="2538413" y="1100138"/>
            <a:ext cx="2033588" cy="1638300"/>
          </a:xfrm>
          <a:prstGeom prst="rect">
            <a:avLst/>
          </a:prstGeom>
        </p:spPr>
      </p:pic>
      <p:pic>
        <p:nvPicPr>
          <p:cNvPr id="9" name="Image 4" descr="preencoded.png">    </p:cNvPr>
          <p:cNvPicPr>
            <a:picLocks noChangeAspect="1"/>
          </p:cNvPicPr>
          <p:nvPr/>
        </p:nvPicPr>
        <p:blipFill>
          <a:blip r:embed="rId5"/>
          <a:stretch>
            <a:fillRect/>
          </a:stretch>
        </p:blipFill>
        <p:spPr>
          <a:xfrm>
            <a:off x="4657725" y="2914650"/>
            <a:ext cx="4395788" cy="1981200"/>
          </a:xfrm>
          <a:prstGeom prst="rect">
            <a:avLst/>
          </a:prstGeom>
        </p:spPr>
      </p:pic>
      <p:pic>
        <p:nvPicPr>
          <p:cNvPr id="10" name="Image 5" descr="preencoded.png">    </p:cNvPr>
          <p:cNvPicPr>
            <a:picLocks noChangeAspect="1"/>
          </p:cNvPicPr>
          <p:nvPr/>
        </p:nvPicPr>
        <p:blipFill>
          <a:blip r:embed="rId6"/>
          <a:stretch>
            <a:fillRect/>
          </a:stretch>
        </p:blipFill>
        <p:spPr>
          <a:xfrm>
            <a:off x="5829300" y="681038"/>
            <a:ext cx="1828526" cy="2095500"/>
          </a:xfrm>
          <a:prstGeom prst="rect">
            <a:avLst/>
          </a:prstGeom>
        </p:spPr>
      </p:pic>
      <p:sp>
        <p:nvSpPr>
          <p:cNvPr id="11" name="Text 3"/>
          <p:cNvSpPr/>
          <p:nvPr/>
        </p:nvSpPr>
        <p:spPr>
          <a:xfrm>
            <a:off x="476250" y="381000"/>
            <a:ext cx="981075" cy="190500"/>
          </a:xfrm>
          <a:prstGeom prst="rect">
            <a:avLst/>
          </a:prstGeom>
          <a:noFill/>
          <a:ln/>
        </p:spPr>
        <p:txBody>
          <a:bodyPr wrap="square" rtlCol="0" anchor="ctr"/>
          <a:lstStyle/>
          <a:p>
            <a:pPr algn="l" indent="0" marL="0">
              <a:lnSpc>
                <a:spcPts val="1497"/>
              </a:lnSpc>
              <a:buNone/>
            </a:pPr>
            <a:r>
              <a:rPr lang="en-US" sz="1191" b="1" dirty="0">
                <a:solidFill>
                  <a:srgbClr val="0E638E">
                    <a:alpha val="99000"/>
                  </a:srgbClr>
                </a:solidFill>
                <a:latin typeface="Source Sans Pro" pitchFamily="34" charset="0"/>
                <a:ea typeface="Source Sans Pro" pitchFamily="34" charset="-122"/>
                <a:cs typeface="Source Sans Pro" pitchFamily="34" charset="-120"/>
              </a:rPr>
              <a:t>BEFORE</a:t>
            </a:r>
            <a:endParaRPr lang="en-US" sz="1191" dirty="0"/>
          </a:p>
        </p:txBody>
      </p:sp>
      <p:sp>
        <p:nvSpPr>
          <p:cNvPr id="12" name="Text 4"/>
          <p:cNvSpPr/>
          <p:nvPr/>
        </p:nvSpPr>
        <p:spPr>
          <a:xfrm>
            <a:off x="5162550" y="381000"/>
            <a:ext cx="881063" cy="195263"/>
          </a:xfrm>
          <a:prstGeom prst="rect">
            <a:avLst/>
          </a:prstGeom>
          <a:noFill/>
          <a:ln/>
        </p:spPr>
        <p:txBody>
          <a:bodyPr wrap="square" rtlCol="0" anchor="ctr"/>
          <a:lstStyle/>
          <a:p>
            <a:pPr algn="l" indent="0" marL="0">
              <a:lnSpc>
                <a:spcPts val="1526"/>
              </a:lnSpc>
              <a:buNone/>
            </a:pPr>
            <a:r>
              <a:rPr lang="en-US" sz="1214" b="1" dirty="0">
                <a:solidFill>
                  <a:srgbClr val="0E8E51">
                    <a:alpha val="99000"/>
                  </a:srgbClr>
                </a:solidFill>
                <a:latin typeface="Source Sans Pro" pitchFamily="34" charset="0"/>
                <a:ea typeface="Source Sans Pro" pitchFamily="34" charset="-122"/>
                <a:cs typeface="Source Sans Pro" pitchFamily="34" charset="-120"/>
              </a:rPr>
              <a:t>AFTER</a:t>
            </a:r>
            <a:endParaRPr lang="en-US" sz="121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7E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76250" y="4486275"/>
            <a:ext cx="981075" cy="276225"/>
          </a:xfrm>
          <a:prstGeom prst="rect">
            <a:avLst/>
          </a:prstGeom>
        </p:spPr>
      </p:pic>
      <p:pic>
        <p:nvPicPr>
          <p:cNvPr id="3" name="Image 1" descr="preencoded.png">    </p:cNvPr>
          <p:cNvPicPr>
            <a:picLocks noChangeAspect="1"/>
          </p:cNvPicPr>
          <p:nvPr/>
        </p:nvPicPr>
        <p:blipFill>
          <a:blip r:embed="rId2"/>
          <a:stretch>
            <a:fillRect/>
          </a:stretch>
        </p:blipFill>
        <p:spPr>
          <a:xfrm>
            <a:off x="5867400" y="1057275"/>
            <a:ext cx="2800350" cy="2800350"/>
          </a:xfrm>
          <a:prstGeom prst="rect">
            <a:avLst/>
          </a:prstGeom>
        </p:spPr>
      </p:pic>
      <p:sp>
        <p:nvSpPr>
          <p:cNvPr id="4" name="Text 0"/>
          <p:cNvSpPr/>
          <p:nvPr/>
        </p:nvSpPr>
        <p:spPr>
          <a:xfrm>
            <a:off x="476250" y="381000"/>
            <a:ext cx="1233488" cy="166688"/>
          </a:xfrm>
          <a:prstGeom prst="rect">
            <a:avLst/>
          </a:prstGeom>
          <a:noFill/>
          <a:ln/>
        </p:spPr>
        <p:txBody>
          <a:bodyPr wrap="square" rtlCol="0" anchor="ctr"/>
          <a:lstStyle/>
          <a:p>
            <a:pPr algn="l" indent="0" marL="0">
              <a:lnSpc>
                <a:spcPts val="1320"/>
              </a:lnSpc>
              <a:buNone/>
            </a:pPr>
            <a:r>
              <a:rPr lang="en-US" sz="1050" b="1" dirty="0">
                <a:solidFill>
                  <a:srgbClr val="000000"/>
                </a:solidFill>
                <a:latin typeface="Source Sans Pro" pitchFamily="34" charset="0"/>
                <a:ea typeface="Source Sans Pro" pitchFamily="34" charset="-122"/>
                <a:cs typeface="Source Sans Pro" pitchFamily="34" charset="-120"/>
              </a:rPr>
              <a:t>26 JUNE 2024</a:t>
            </a:r>
            <a:endParaRPr lang="en-US" sz="1050" dirty="0"/>
          </a:p>
        </p:txBody>
      </p:sp>
      <p:sp>
        <p:nvSpPr>
          <p:cNvPr id="5" name="Text 1"/>
          <p:cNvSpPr/>
          <p:nvPr/>
        </p:nvSpPr>
        <p:spPr>
          <a:xfrm>
            <a:off x="400050" y="1790700"/>
            <a:ext cx="5467350" cy="1543050"/>
          </a:xfrm>
          <a:prstGeom prst="rect">
            <a:avLst/>
          </a:prstGeom>
          <a:noFill/>
          <a:ln/>
        </p:spPr>
        <p:txBody>
          <a:bodyPr wrap="square" rtlCol="0" anchor="ctr"/>
          <a:lstStyle/>
          <a:p>
            <a:pPr algn="l" indent="0" marL="0">
              <a:lnSpc>
                <a:spcPts val="3031"/>
              </a:lnSpc>
              <a:buNone/>
            </a:pPr>
            <a:r>
              <a:rPr lang="en-US" sz="2331" spc="-51" kern="0" dirty="0">
                <a:solidFill>
                  <a:srgbClr val="16161D">
                    <a:alpha val="99000"/>
                  </a:srgbClr>
                </a:solidFill>
                <a:latin typeface="Source Serif Pro" pitchFamily="34" charset="0"/>
                <a:ea typeface="Source Serif Pro" pitchFamily="34" charset="-122"/>
                <a:cs typeface="Source Serif Pro" pitchFamily="34" charset="-120"/>
              </a:rPr>
              <a:t>Welcome to </a:t>
            </a:r>
            <a:pPr algn="l" indent="0" marL="0">
              <a:lnSpc>
                <a:spcPts val="3031"/>
              </a:lnSpc>
              <a:buNone/>
            </a:pPr>
            <a:r>
              <a:rPr lang="en-US" sz="2331" b="1" spc="-51" kern="0" dirty="0">
                <a:solidFill>
                  <a:srgbClr val="0E8E51">
                    <a:alpha val="99000"/>
                  </a:srgbClr>
                </a:solidFill>
                <a:latin typeface="Source Serif Pro" pitchFamily="34" charset="0"/>
                <a:ea typeface="Source Serif Pro" pitchFamily="34" charset="-122"/>
                <a:cs typeface="Source Serif Pro" pitchFamily="34" charset="-120"/>
              </a:rPr>
              <a:t>Vetayo</a:t>
            </a:r>
            <a:pPr algn="l" indent="0" marL="0">
              <a:lnSpc>
                <a:spcPts val="3031"/>
              </a:lnSpc>
              <a:buNone/>
            </a:pPr>
            <a:r>
              <a:rPr lang="en-US" sz="2331" spc="-51" kern="0" dirty="0">
                <a:solidFill>
                  <a:srgbClr val="16161D">
                    <a:alpha val="99000"/>
                  </a:srgbClr>
                </a:solidFill>
                <a:latin typeface="Source Serif Pro" pitchFamily="34" charset="0"/>
                <a:ea typeface="Source Serif Pro" pitchFamily="34" charset="-122"/>
                <a:cs typeface="Source Serif Pro" pitchFamily="34" charset="-120"/>
              </a:rPr>
              <a:t>, your trusted platform for reuniting people with their lost valuables. We are revolutionizing the lost-and-found experience.</a:t>
            </a:r>
            <a:endParaRPr lang="en-US" sz="2331" dirty="0"/>
          </a:p>
        </p:txBody>
      </p:sp>
      <p:sp>
        <p:nvSpPr>
          <p:cNvPr id="6" name="Text 2"/>
          <p:cNvSpPr/>
          <p:nvPr/>
        </p:nvSpPr>
        <p:spPr>
          <a:xfrm>
            <a:off x="400050" y="1214438"/>
            <a:ext cx="3505200" cy="395288"/>
          </a:xfrm>
          <a:prstGeom prst="rect">
            <a:avLst/>
          </a:prstGeom>
          <a:noFill/>
          <a:ln/>
        </p:spPr>
        <p:txBody>
          <a:bodyPr wrap="square" rtlCol="0" anchor="ctr"/>
          <a:lstStyle/>
          <a:p>
            <a:pPr algn="l" indent="0" marL="0">
              <a:lnSpc>
                <a:spcPts val="3097"/>
              </a:lnSpc>
              <a:buNone/>
            </a:pPr>
            <a:r>
              <a:rPr lang="en-US" sz="2464" b="1" dirty="0">
                <a:solidFill>
                  <a:srgbClr val="16161D">
                    <a:alpha val="99000"/>
                  </a:srgbClr>
                </a:solidFill>
                <a:latin typeface="Source Sans Pro" pitchFamily="34" charset="0"/>
                <a:ea typeface="Source Sans Pro" pitchFamily="34" charset="-122"/>
                <a:cs typeface="Source Sans Pro" pitchFamily="34" charset="-120"/>
              </a:rPr>
              <a:t>INTRODUCING VETAYO</a:t>
            </a:r>
            <a:endParaRPr lang="en-US" sz="246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7E9"/>
        </a:solidFill>
      </p:bgPr>
    </p:bg>
    <p:spTree>
      <p:nvGrpSpPr>
        <p:cNvPr id="1" name=""/>
        <p:cNvGrpSpPr/>
        <p:nvPr/>
      </p:nvGrpSpPr>
      <p:grpSpPr>
        <a:xfrm>
          <a:off x="0" y="0"/>
          <a:ext cx="0" cy="0"/>
          <a:chOff x="0" y="0"/>
          <a:chExt cx="0" cy="0"/>
        </a:xfrm>
      </p:grpSpPr>
      <p:sp>
        <p:nvSpPr>
          <p:cNvPr id="2" name="Shape 0"/>
          <p:cNvSpPr/>
          <p:nvPr/>
        </p:nvSpPr>
        <p:spPr>
          <a:xfrm>
            <a:off x="0" y="881063"/>
            <a:ext cx="9144000" cy="4262438"/>
          </a:xfrm>
          <a:prstGeom prst="rect">
            <a:avLst/>
          </a:prstGeom>
          <a:solidFill>
            <a:srgbClr val="FEFBF4"/>
          </a:solidFill>
          <a:ln/>
        </p:spPr>
      </p:sp>
      <p:sp>
        <p:nvSpPr>
          <p:cNvPr id="3" name="Shape 1"/>
          <p:cNvSpPr/>
          <p:nvPr/>
        </p:nvSpPr>
        <p:spPr>
          <a:xfrm rot="0">
            <a:off x="0" y="881063"/>
            <a:ext cx="9144000" cy="0"/>
          </a:xfrm>
          <a:prstGeom prst="line">
            <a:avLst/>
          </a:prstGeom>
          <a:noFill/>
          <a:ln w="38100">
            <a:solidFill>
              <a:srgbClr val="88888C">
                <a:alpha val="30000"/>
              </a:srgbClr>
            </a:solidFill>
            <a:prstDash val="solid"/>
          </a:ln>
        </p:spPr>
      </p:sp>
      <p:sp>
        <p:nvSpPr>
          <p:cNvPr id="4" name="Text 2"/>
          <p:cNvSpPr/>
          <p:nvPr/>
        </p:nvSpPr>
        <p:spPr>
          <a:xfrm>
            <a:off x="476250" y="381000"/>
            <a:ext cx="1609725" cy="319088"/>
          </a:xfrm>
          <a:prstGeom prst="rect">
            <a:avLst/>
          </a:prstGeom>
          <a:noFill/>
          <a:ln/>
        </p:spPr>
        <p:txBody>
          <a:bodyPr wrap="square" rtlCol="0" anchor="ctr"/>
          <a:lstStyle/>
          <a:p>
            <a:pPr algn="l" indent="0" marL="0">
              <a:lnSpc>
                <a:spcPts val="2527"/>
              </a:lnSpc>
              <a:buNone/>
            </a:pPr>
            <a:r>
              <a:rPr lang="en-US" sz="2010" b="1" dirty="0">
                <a:solidFill>
                  <a:srgbClr val="16161D">
                    <a:alpha val="99000"/>
                  </a:srgbClr>
                </a:solidFill>
                <a:latin typeface="Source Sans Pro" pitchFamily="34" charset="0"/>
                <a:ea typeface="Source Sans Pro" pitchFamily="34" charset="-122"/>
                <a:cs typeface="Source Sans Pro" pitchFamily="34" charset="-120"/>
              </a:rPr>
              <a:t>SOLUTION</a:t>
            </a:r>
            <a:endParaRPr lang="en-US" sz="2010" dirty="0"/>
          </a:p>
        </p:txBody>
      </p:sp>
      <p:sp>
        <p:nvSpPr>
          <p:cNvPr id="5" name="Text 3"/>
          <p:cNvSpPr/>
          <p:nvPr/>
        </p:nvSpPr>
        <p:spPr>
          <a:xfrm>
            <a:off x="781050" y="1666875"/>
            <a:ext cx="7329488" cy="2085975"/>
          </a:xfrm>
          <a:prstGeom prst="rect">
            <a:avLst/>
          </a:prstGeom>
          <a:noFill/>
          <a:ln/>
        </p:spPr>
        <p:txBody>
          <a:bodyPr wrap="square" rtlCol="0" anchor="ctr"/>
          <a:lstStyle/>
          <a:p>
            <a:pPr algn="l" marL="342900" indent="-342900">
              <a:lnSpc>
                <a:spcPts val="2745"/>
              </a:lnSpc>
              <a:buSzPct val="100000"/>
              <a:buFont typeface="+mj-lt"/>
              <a:buAutoNum type="arabicPeriod" startAt="1"/>
            </a:pPr>
            <a:r>
              <a:rPr lang="en-US" sz="1716" spc="-17" kern="0" dirty="0">
                <a:solidFill>
                  <a:srgbClr val="16161D">
                    <a:alpha val="99000"/>
                  </a:srgbClr>
                </a:solidFill>
                <a:latin typeface="Source Serif Pro" pitchFamily="34" charset="0"/>
                <a:ea typeface="Source Serif Pro" pitchFamily="34" charset="-122"/>
                <a:cs typeface="Source Serif Pro" pitchFamily="34" charset="-120"/>
              </a:rPr>
              <a:t>Centralized Platform – One trusted place to report, search, and claim.</a:t>
            </a:r>
            <a:endParaRPr lang="en-US" sz="1716" dirty="0"/>
          </a:p>
          <a:p>
            <a:pPr algn="l" marL="342900" indent="-342900">
              <a:lnSpc>
                <a:spcPts val="2745"/>
              </a:lnSpc>
              <a:buSzPct val="100000"/>
              <a:buFont typeface="+mj-lt"/>
              <a:buAutoNum type="arabicPeriod" startAt="1"/>
            </a:pPr>
            <a:r>
              <a:rPr lang="en-US" sz="1716" spc="-17" kern="0" dirty="0">
                <a:solidFill>
                  <a:srgbClr val="16161D">
                    <a:alpha val="99000"/>
                  </a:srgbClr>
                </a:solidFill>
                <a:latin typeface="Source Serif Pro" pitchFamily="34" charset="0"/>
                <a:ea typeface="Source Serif Pro" pitchFamily="34" charset="-122"/>
                <a:cs typeface="Source Serif Pro" pitchFamily="34" charset="-120"/>
              </a:rPr>
              <a:t> Smart Filters &amp; Matching – Find items based on location, time, category.</a:t>
            </a:r>
            <a:endParaRPr lang="en-US" sz="1716" dirty="0"/>
          </a:p>
          <a:p>
            <a:pPr algn="l" marL="342900" indent="-342900">
              <a:lnSpc>
                <a:spcPts val="2745"/>
              </a:lnSpc>
              <a:buSzPct val="100000"/>
              <a:buFont typeface="+mj-lt"/>
              <a:buAutoNum type="arabicPeriod" startAt="1"/>
            </a:pPr>
            <a:r>
              <a:rPr lang="en-US" sz="1716" spc="-17" kern="0" dirty="0">
                <a:solidFill>
                  <a:srgbClr val="16161D">
                    <a:alpha val="99000"/>
                  </a:srgbClr>
                </a:solidFill>
                <a:latin typeface="Source Serif Pro" pitchFamily="34" charset="0"/>
                <a:ea typeface="Source Serif Pro" pitchFamily="34" charset="-122"/>
                <a:cs typeface="Source Serif Pro" pitchFamily="34" charset="-120"/>
              </a:rPr>
              <a:t>Verified Claims – Built-in validation to ensure accurate returns.</a:t>
            </a:r>
            <a:endParaRPr lang="en-US" sz="1716" dirty="0"/>
          </a:p>
          <a:p>
            <a:pPr algn="l" indent="0" marL="0">
              <a:lnSpc>
                <a:spcPts val="2745"/>
              </a:lnSpc>
              <a:buNone/>
            </a:pPr>
            <a:r>
              <a:rPr lang="en-US" sz="1716" spc="-17" kern="0" dirty="0">
                <a:solidFill>
                  <a:srgbClr val="16161D">
                    <a:alpha val="99000"/>
                  </a:srgbClr>
                </a:solidFill>
                <a:latin typeface="Source Serif Pro" pitchFamily="34" charset="0"/>
                <a:ea typeface="Source Serif Pro" pitchFamily="34" charset="-122"/>
                <a:cs typeface="Source Serif Pro" pitchFamily="34" charset="-120"/>
              </a:rPr>
              <a:t>  4.  Rewards – Motivate finders with transparent, fair tipping.</a:t>
            </a:r>
            <a:endParaRPr lang="en-US" sz="1716"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7E9"/>
        </a:solidFill>
      </p:bgPr>
    </p:bg>
    <p:spTree>
      <p:nvGrpSpPr>
        <p:cNvPr id="1" name=""/>
        <p:cNvGrpSpPr/>
        <p:nvPr/>
      </p:nvGrpSpPr>
      <p:grpSpPr>
        <a:xfrm>
          <a:off x="0" y="0"/>
          <a:ext cx="0" cy="0"/>
          <a:chOff x="0" y="0"/>
          <a:chExt cx="0" cy="0"/>
        </a:xfrm>
      </p:grpSpPr>
      <p:sp>
        <p:nvSpPr>
          <p:cNvPr id="3" name="Shape 0"/>
          <p:cNvSpPr/>
          <p:nvPr/>
        </p:nvSpPr>
        <p:spPr>
          <a:xfrm rot="5400000">
            <a:off x="2000250" y="2571750"/>
            <a:ext cx="5143500" cy="0"/>
          </a:xfrm>
          <a:prstGeom prst="line">
            <a:avLst/>
          </a:prstGeom>
          <a:noFill/>
          <a:ln w="38100">
            <a:solidFill>
              <a:srgbClr val="FCF7E9"/>
            </a:solidFill>
            <a:prstDash val="solid"/>
          </a:ln>
        </p:spPr>
      </p:sp>
      <p:sp>
        <p:nvSpPr>
          <p:cNvPr id="4" name="Shape 1"/>
          <p:cNvSpPr/>
          <p:nvPr/>
        </p:nvSpPr>
        <p:spPr>
          <a:xfrm rot="5400000">
            <a:off x="2000250" y="2571750"/>
            <a:ext cx="5143500" cy="0"/>
          </a:xfrm>
          <a:prstGeom prst="line">
            <a:avLst/>
          </a:prstGeom>
          <a:noFill/>
          <a:ln w="38100">
            <a:solidFill>
              <a:srgbClr val="88888C">
                <a:alpha val="30000"/>
              </a:srgbClr>
            </a:solidFill>
            <a:prstDash val="solid"/>
          </a:ln>
        </p:spPr>
      </p:sp>
      <p:sp>
        <p:nvSpPr>
          <p:cNvPr id="5" name="Text 2"/>
          <p:cNvSpPr/>
          <p:nvPr/>
        </p:nvSpPr>
        <p:spPr>
          <a:xfrm>
            <a:off x="476250" y="381000"/>
            <a:ext cx="2343150" cy="314325"/>
          </a:xfrm>
          <a:prstGeom prst="rect">
            <a:avLst/>
          </a:prstGeom>
          <a:noFill/>
          <a:ln/>
        </p:spPr>
        <p:txBody>
          <a:bodyPr wrap="square" rtlCol="0" anchor="ctr"/>
          <a:lstStyle/>
          <a:p>
            <a:pPr algn="l" indent="0" marL="0">
              <a:lnSpc>
                <a:spcPts val="2489"/>
              </a:lnSpc>
              <a:buNone/>
            </a:pPr>
            <a:r>
              <a:rPr lang="en-US" sz="1980" b="1" dirty="0">
                <a:solidFill>
                  <a:srgbClr val="16161D">
                    <a:alpha val="99000"/>
                  </a:srgbClr>
                </a:solidFill>
                <a:latin typeface="Source Sans Pro" pitchFamily="34" charset="0"/>
                <a:ea typeface="Source Sans Pro" pitchFamily="34" charset="-122"/>
                <a:cs typeface="Source Sans Pro" pitchFamily="34" charset="-120"/>
              </a:rPr>
              <a:t>HOW IT WORKS</a:t>
            </a:r>
            <a:endParaRPr lang="en-US" sz="1980" dirty="0"/>
          </a:p>
        </p:txBody>
      </p:sp>
      <p:sp>
        <p:nvSpPr>
          <p:cNvPr id="6" name="Text 3"/>
          <p:cNvSpPr/>
          <p:nvPr/>
        </p:nvSpPr>
        <p:spPr>
          <a:xfrm>
            <a:off x="476250" y="1495425"/>
            <a:ext cx="4076700" cy="1185863"/>
          </a:xfrm>
          <a:prstGeom prst="rect">
            <a:avLst/>
          </a:prstGeom>
          <a:noFill/>
          <a:ln/>
        </p:spPr>
        <p:txBody>
          <a:bodyPr wrap="square" rtlCol="0" anchor="ctr"/>
          <a:lstStyle/>
          <a:p>
            <a:pPr algn="l" indent="0" marL="0">
              <a:lnSpc>
                <a:spcPts val="3120"/>
              </a:lnSpc>
              <a:buNone/>
            </a:pPr>
            <a:r>
              <a:rPr lang="en-US" sz="2400" spc="-53" kern="0" dirty="0">
                <a:solidFill>
                  <a:srgbClr val="000000">
                    <a:alpha val="99000"/>
                  </a:srgbClr>
                </a:solidFill>
                <a:latin typeface="Source Serif Pro" pitchFamily="34" charset="0"/>
                <a:ea typeface="Source Serif Pro" pitchFamily="34" charset="-122"/>
                <a:cs typeface="Source Serif Pro" pitchFamily="34" charset="-120"/>
              </a:rPr>
              <a:t>A Simple, Secure Path to Reuniting You With What Matters</a:t>
            </a:r>
            <a:endParaRPr lang="en-US" sz="2400" dirty="0"/>
          </a:p>
        </p:txBody>
      </p:sp>
      <p:sp>
        <p:nvSpPr>
          <p:cNvPr id="7" name="Text 4"/>
          <p:cNvSpPr/>
          <p:nvPr/>
        </p:nvSpPr>
        <p:spPr>
          <a:xfrm>
            <a:off x="5048250" y="1519238"/>
            <a:ext cx="4076700" cy="2166938"/>
          </a:xfrm>
          <a:prstGeom prst="rect">
            <a:avLst/>
          </a:prstGeom>
          <a:noFill/>
          <a:ln/>
        </p:spPr>
        <p:txBody>
          <a:bodyPr wrap="square" rtlCol="0" anchor="ctr"/>
          <a:lstStyle/>
          <a:p>
            <a:pPr algn="l" marL="342900" indent="-342900">
              <a:lnSpc>
                <a:spcPts val="2250"/>
              </a:lnSpc>
              <a:buSzPct val="100000"/>
              <a:buFont typeface="+mj-lt"/>
              <a:buAutoNum type="arabicPeriod" startAt="1"/>
            </a:pPr>
            <a:r>
              <a:rPr lang="en-US" sz="1800" dirty="0">
                <a:solidFill>
                  <a:srgbClr val="16161D">
                    <a:alpha val="99000"/>
                  </a:srgbClr>
                </a:solidFill>
                <a:latin typeface="Source Sans Pro" pitchFamily="34" charset="0"/>
                <a:ea typeface="Source Sans Pro" pitchFamily="34" charset="-122"/>
                <a:cs typeface="Source Sans Pro" pitchFamily="34" charset="-120"/>
              </a:rPr>
              <a:t>Report Your Lost or Found Item</a:t>
            </a:r>
            <a:endParaRPr lang="en-US" sz="1800" dirty="0"/>
          </a:p>
          <a:p>
            <a:pPr algn="l" marL="342900" indent="-342900">
              <a:lnSpc>
                <a:spcPts val="2250"/>
              </a:lnSpc>
              <a:buSzPct val="100000"/>
              <a:buFont typeface="+mj-lt"/>
              <a:buAutoNum type="arabicPeriod" startAt="1"/>
            </a:pPr>
            <a:r>
              <a:rPr lang="en-US" sz="1800" dirty="0">
                <a:solidFill>
                  <a:srgbClr val="16161D">
                    <a:alpha val="99000"/>
                  </a:srgbClr>
                </a:solidFill>
                <a:latin typeface="Source Sans Pro" pitchFamily="34" charset="0"/>
                <a:ea typeface="Source Sans Pro" pitchFamily="34" charset="-122"/>
                <a:cs typeface="Source Sans Pro" pitchFamily="34" charset="-120"/>
              </a:rPr>
              <a:t>Browse or Search With Filters</a:t>
            </a:r>
            <a:endParaRPr lang="en-US" sz="1800" dirty="0"/>
          </a:p>
          <a:p>
            <a:pPr algn="l" marL="342900" indent="-342900">
              <a:lnSpc>
                <a:spcPts val="2250"/>
              </a:lnSpc>
              <a:buSzPct val="100000"/>
              <a:buFont typeface="+mj-lt"/>
              <a:buAutoNum type="arabicPeriod" startAt="1"/>
            </a:pPr>
            <a:r>
              <a:rPr lang="en-US" sz="1800" dirty="0">
                <a:solidFill>
                  <a:srgbClr val="16161D">
                    <a:alpha val="99000"/>
                  </a:srgbClr>
                </a:solidFill>
                <a:latin typeface="Source Sans Pro" pitchFamily="34" charset="0"/>
                <a:ea typeface="Source Sans Pro" pitchFamily="34" charset="-122"/>
                <a:cs typeface="Source Sans Pro" pitchFamily="34" charset="-120"/>
              </a:rPr>
              <a:t>Claim and Respond</a:t>
            </a:r>
            <a:endParaRPr lang="en-US" sz="1800" dirty="0"/>
          </a:p>
          <a:p>
            <a:pPr algn="l" marL="342900" indent="-342900">
              <a:lnSpc>
                <a:spcPts val="2250"/>
              </a:lnSpc>
              <a:buSzPct val="100000"/>
              <a:buFont typeface="+mj-lt"/>
              <a:buAutoNum type="arabicPeriod" startAt="1"/>
            </a:pPr>
            <a:r>
              <a:rPr lang="en-US" sz="1800" dirty="0">
                <a:solidFill>
                  <a:srgbClr val="16161D">
                    <a:alpha val="99000"/>
                  </a:srgbClr>
                </a:solidFill>
                <a:latin typeface="Source Sans Pro" pitchFamily="34" charset="0"/>
                <a:ea typeface="Source Sans Pro" pitchFamily="34" charset="-122"/>
                <a:cs typeface="Source Sans Pro" pitchFamily="34" charset="-120"/>
              </a:rPr>
              <a:t> Verify Ownership</a:t>
            </a:r>
            <a:endParaRPr lang="en-US" sz="1800" dirty="0"/>
          </a:p>
          <a:p>
            <a:pPr algn="l" marL="342900" indent="-342900">
              <a:lnSpc>
                <a:spcPts val="2250"/>
              </a:lnSpc>
              <a:buSzPct val="100000"/>
              <a:buFont typeface="+mj-lt"/>
              <a:buAutoNum type="arabicPeriod" startAt="1"/>
            </a:pPr>
            <a:r>
              <a:rPr lang="en-US" sz="1800" dirty="0">
                <a:solidFill>
                  <a:srgbClr val="16161D">
                    <a:alpha val="99000"/>
                  </a:srgbClr>
                </a:solidFill>
                <a:latin typeface="Source Sans Pro" pitchFamily="34" charset="0"/>
                <a:ea typeface="Source Sans Pro" pitchFamily="34" charset="-122"/>
                <a:cs typeface="Source Sans Pro" pitchFamily="34" charset="-120"/>
              </a:rPr>
              <a:t>Return &amp; Reward</a:t>
            </a:r>
            <a:endParaRPr lang="en-US" sz="1800" dirty="0"/>
          </a:p>
        </p:txBody>
      </p:sp>
      <p:sp>
        <p:nvSpPr>
          <p:cNvPr id="8" name="Text 5"/>
          <p:cNvSpPr/>
          <p:nvPr/>
        </p:nvSpPr>
        <p:spPr>
          <a:xfrm>
            <a:off x="476250" y="2890838"/>
            <a:ext cx="4291013" cy="685800"/>
          </a:xfrm>
          <a:prstGeom prst="rect">
            <a:avLst/>
          </a:prstGeom>
          <a:noFill/>
          <a:ln/>
        </p:spPr>
        <p:txBody>
          <a:bodyPr wrap="square" rtlCol="0" anchor="ctr"/>
          <a:lstStyle/>
          <a:p>
            <a:pPr algn="l" indent="0" marL="0">
              <a:lnSpc>
                <a:spcPts val="1800"/>
              </a:lnSpc>
              <a:buNone/>
            </a:pPr>
            <a:r>
              <a:rPr lang="en-US" sz="1200" dirty="0">
                <a:solidFill>
                  <a:srgbClr val="16161D">
                    <a:alpha val="99000"/>
                  </a:srgbClr>
                </a:solidFill>
                <a:latin typeface="Source Sans Pro" pitchFamily="34" charset="0"/>
                <a:ea typeface="Source Sans Pro" pitchFamily="34" charset="-122"/>
                <a:cs typeface="Source Sans Pro" pitchFamily="34" charset="-120"/>
              </a:rPr>
              <a:t>It’s all about clarity, fairness, and making the lost &amp; found process finally work. No more chaos—just structured steps to find what matters.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7E9"/>
        </a:solidFill>
      </p:bgPr>
    </p:bg>
    <p:spTree>
      <p:nvGrpSpPr>
        <p:cNvPr id="1" name=""/>
        <p:cNvGrpSpPr/>
        <p:nvPr/>
      </p:nvGrpSpPr>
      <p:grpSpPr>
        <a:xfrm>
          <a:off x="0" y="0"/>
          <a:ext cx="0" cy="0"/>
          <a:chOff x="0" y="0"/>
          <a:chExt cx="0" cy="0"/>
        </a:xfrm>
      </p:grpSpPr>
      <p:sp>
        <p:nvSpPr>
          <p:cNvPr id="2" name="Shape 0"/>
          <p:cNvSpPr/>
          <p:nvPr/>
        </p:nvSpPr>
        <p:spPr>
          <a:xfrm>
            <a:off x="4843463" y="-9525"/>
            <a:ext cx="4300538" cy="2571750"/>
          </a:xfrm>
          <a:prstGeom prst="rect">
            <a:avLst/>
          </a:prstGeom>
          <a:solidFill>
            <a:srgbClr val="FEFBF4"/>
          </a:solidFill>
          <a:ln/>
        </p:spPr>
      </p:sp>
      <p:sp>
        <p:nvSpPr>
          <p:cNvPr id="3" name="Shape 1"/>
          <p:cNvSpPr/>
          <p:nvPr/>
        </p:nvSpPr>
        <p:spPr>
          <a:xfrm>
            <a:off x="4843463" y="2571750"/>
            <a:ext cx="4300538" cy="2571750"/>
          </a:xfrm>
          <a:prstGeom prst="rect">
            <a:avLst/>
          </a:prstGeom>
          <a:solidFill>
            <a:srgbClr val="FEFBF4"/>
          </a:solidFill>
          <a:ln/>
        </p:spPr>
      </p:sp>
      <p:sp>
        <p:nvSpPr>
          <p:cNvPr id="4" name="Shape 2"/>
          <p:cNvSpPr/>
          <p:nvPr/>
        </p:nvSpPr>
        <p:spPr>
          <a:xfrm rot="5400000">
            <a:off x="2271713" y="2571750"/>
            <a:ext cx="5143500" cy="0"/>
          </a:xfrm>
          <a:prstGeom prst="line">
            <a:avLst/>
          </a:prstGeom>
          <a:noFill/>
          <a:ln w="38100">
            <a:solidFill>
              <a:srgbClr val="88888C">
                <a:alpha val="30000"/>
              </a:srgbClr>
            </a:solidFill>
            <a:prstDash val="solid"/>
          </a:ln>
        </p:spPr>
      </p:sp>
      <p:pic>
        <p:nvPicPr>
          <p:cNvPr id="5" name="Image 0" descr="preencoded.png">    </p:cNvPr>
          <p:cNvPicPr>
            <a:picLocks noChangeAspect="1"/>
          </p:cNvPicPr>
          <p:nvPr/>
        </p:nvPicPr>
        <p:blipFill>
          <a:blip r:embed="rId1"/>
          <a:stretch>
            <a:fillRect/>
          </a:stretch>
        </p:blipFill>
        <p:spPr>
          <a:xfrm>
            <a:off x="5336911" y="3971426"/>
            <a:ext cx="3194024" cy="5262"/>
          </a:xfrm>
          <a:prstGeom prst="rect">
            <a:avLst/>
          </a:prstGeom>
        </p:spPr>
      </p:pic>
      <p:pic>
        <p:nvPicPr>
          <p:cNvPr id="6" name="Image 1" descr="preencoded.png">    </p:cNvPr>
          <p:cNvPicPr>
            <a:picLocks noChangeAspect="1"/>
          </p:cNvPicPr>
          <p:nvPr/>
        </p:nvPicPr>
        <p:blipFill>
          <a:blip r:embed="rId2"/>
          <a:stretch>
            <a:fillRect/>
          </a:stretch>
        </p:blipFill>
        <p:spPr>
          <a:xfrm>
            <a:off x="5593859" y="3250976"/>
            <a:ext cx="700729" cy="613021"/>
          </a:xfrm>
          <a:prstGeom prst="rect">
            <a:avLst/>
          </a:prstGeom>
        </p:spPr>
      </p:pic>
      <p:pic>
        <p:nvPicPr>
          <p:cNvPr id="7" name="Image 2" descr="preencoded.png">    </p:cNvPr>
          <p:cNvPicPr>
            <a:picLocks noChangeAspect="1"/>
          </p:cNvPicPr>
          <p:nvPr/>
        </p:nvPicPr>
        <p:blipFill>
          <a:blip r:embed="rId3"/>
          <a:stretch>
            <a:fillRect/>
          </a:stretch>
        </p:blipFill>
        <p:spPr>
          <a:xfrm>
            <a:off x="5994662" y="3468033"/>
            <a:ext cx="38919" cy="62197"/>
          </a:xfrm>
          <a:prstGeom prst="rect">
            <a:avLst/>
          </a:prstGeom>
        </p:spPr>
      </p:pic>
      <p:pic>
        <p:nvPicPr>
          <p:cNvPr id="8" name="Image 3" descr="preencoded.png">    </p:cNvPr>
          <p:cNvPicPr>
            <a:picLocks noChangeAspect="1"/>
          </p:cNvPicPr>
          <p:nvPr/>
        </p:nvPicPr>
        <p:blipFill>
          <a:blip r:embed="rId4"/>
          <a:stretch>
            <a:fillRect/>
          </a:stretch>
        </p:blipFill>
        <p:spPr>
          <a:xfrm>
            <a:off x="6157782" y="3814008"/>
            <a:ext cx="204550" cy="160048"/>
          </a:xfrm>
          <a:prstGeom prst="rect">
            <a:avLst/>
          </a:prstGeom>
        </p:spPr>
      </p:pic>
      <p:pic>
        <p:nvPicPr>
          <p:cNvPr id="9" name="Image 4" descr="preencoded.png">    </p:cNvPr>
          <p:cNvPicPr>
            <a:picLocks noChangeAspect="1"/>
          </p:cNvPicPr>
          <p:nvPr/>
        </p:nvPicPr>
        <p:blipFill>
          <a:blip r:embed="rId5"/>
          <a:stretch>
            <a:fillRect/>
          </a:stretch>
        </p:blipFill>
        <p:spPr>
          <a:xfrm>
            <a:off x="6229285" y="3900787"/>
            <a:ext cx="47485" cy="29388"/>
          </a:xfrm>
          <a:prstGeom prst="rect">
            <a:avLst/>
          </a:prstGeom>
        </p:spPr>
      </p:pic>
      <p:pic>
        <p:nvPicPr>
          <p:cNvPr id="10" name="Image 5" descr="preencoded.png">    </p:cNvPr>
          <p:cNvPicPr>
            <a:picLocks noChangeAspect="1"/>
          </p:cNvPicPr>
          <p:nvPr/>
        </p:nvPicPr>
        <p:blipFill>
          <a:blip r:embed="rId6"/>
          <a:stretch>
            <a:fillRect/>
          </a:stretch>
        </p:blipFill>
        <p:spPr>
          <a:xfrm>
            <a:off x="5856731" y="3398911"/>
            <a:ext cx="292736" cy="442380"/>
          </a:xfrm>
          <a:prstGeom prst="rect">
            <a:avLst/>
          </a:prstGeom>
        </p:spPr>
      </p:pic>
      <p:pic>
        <p:nvPicPr>
          <p:cNvPr id="11" name="Image 6" descr="preencoded.png">    </p:cNvPr>
          <p:cNvPicPr>
            <a:picLocks noChangeAspect="1"/>
          </p:cNvPicPr>
          <p:nvPr/>
        </p:nvPicPr>
        <p:blipFill>
          <a:blip r:embed="rId7"/>
          <a:stretch>
            <a:fillRect/>
          </a:stretch>
        </p:blipFill>
        <p:spPr>
          <a:xfrm>
            <a:off x="5837718" y="3755800"/>
            <a:ext cx="168701" cy="216689"/>
          </a:xfrm>
          <a:prstGeom prst="rect">
            <a:avLst/>
          </a:prstGeom>
        </p:spPr>
      </p:pic>
      <p:pic>
        <p:nvPicPr>
          <p:cNvPr id="12" name="Image 7" descr="preencoded.png">    </p:cNvPr>
          <p:cNvPicPr>
            <a:picLocks noChangeAspect="1"/>
          </p:cNvPicPr>
          <p:nvPr/>
        </p:nvPicPr>
        <p:blipFill>
          <a:blip r:embed="rId8"/>
          <a:stretch>
            <a:fillRect/>
          </a:stretch>
        </p:blipFill>
        <p:spPr>
          <a:xfrm>
            <a:off x="5912914" y="3867274"/>
            <a:ext cx="49420" cy="19158"/>
          </a:xfrm>
          <a:prstGeom prst="rect">
            <a:avLst/>
          </a:prstGeom>
        </p:spPr>
      </p:pic>
      <p:pic>
        <p:nvPicPr>
          <p:cNvPr id="13" name="Image 8" descr="preencoded.png">    </p:cNvPr>
          <p:cNvPicPr>
            <a:picLocks noChangeAspect="1"/>
          </p:cNvPicPr>
          <p:nvPr/>
        </p:nvPicPr>
        <p:blipFill>
          <a:blip r:embed="rId9"/>
          <a:stretch>
            <a:fillRect/>
          </a:stretch>
        </p:blipFill>
        <p:spPr>
          <a:xfrm>
            <a:off x="5606174" y="2888423"/>
            <a:ext cx="309563" cy="402018"/>
          </a:xfrm>
          <a:prstGeom prst="rect">
            <a:avLst/>
          </a:prstGeom>
        </p:spPr>
      </p:pic>
      <p:pic>
        <p:nvPicPr>
          <p:cNvPr id="14" name="Image 9" descr="preencoded.png">    </p:cNvPr>
          <p:cNvPicPr>
            <a:picLocks noChangeAspect="1"/>
          </p:cNvPicPr>
          <p:nvPr/>
        </p:nvPicPr>
        <p:blipFill>
          <a:blip r:embed="rId10"/>
          <a:stretch>
            <a:fillRect/>
          </a:stretch>
        </p:blipFill>
        <p:spPr>
          <a:xfrm>
            <a:off x="6190124" y="3044504"/>
            <a:ext cx="177650" cy="93832"/>
          </a:xfrm>
          <a:prstGeom prst="rect">
            <a:avLst/>
          </a:prstGeom>
        </p:spPr>
      </p:pic>
      <p:pic>
        <p:nvPicPr>
          <p:cNvPr id="15" name="Image 10" descr="preencoded.png">    </p:cNvPr>
          <p:cNvPicPr>
            <a:picLocks noChangeAspect="1"/>
          </p:cNvPicPr>
          <p:nvPr/>
        </p:nvPicPr>
        <p:blipFill>
          <a:blip r:embed="rId11"/>
          <a:stretch>
            <a:fillRect/>
          </a:stretch>
        </p:blipFill>
        <p:spPr>
          <a:xfrm>
            <a:off x="5864428" y="3074700"/>
            <a:ext cx="46202" cy="129866"/>
          </a:xfrm>
          <a:prstGeom prst="rect">
            <a:avLst/>
          </a:prstGeom>
        </p:spPr>
      </p:pic>
      <p:pic>
        <p:nvPicPr>
          <p:cNvPr id="16" name="Image 11" descr="preencoded.png">    </p:cNvPr>
          <p:cNvPicPr>
            <a:picLocks noChangeAspect="1"/>
          </p:cNvPicPr>
          <p:nvPr/>
        </p:nvPicPr>
        <p:blipFill>
          <a:blip r:embed="rId12"/>
          <a:stretch>
            <a:fillRect/>
          </a:stretch>
        </p:blipFill>
        <p:spPr>
          <a:xfrm>
            <a:off x="5815757" y="2936134"/>
            <a:ext cx="405171" cy="288952"/>
          </a:xfrm>
          <a:prstGeom prst="rect">
            <a:avLst/>
          </a:prstGeom>
        </p:spPr>
      </p:pic>
      <p:pic>
        <p:nvPicPr>
          <p:cNvPr id="17" name="Image 12" descr="preencoded.png">    </p:cNvPr>
          <p:cNvPicPr>
            <a:picLocks noChangeAspect="1"/>
          </p:cNvPicPr>
          <p:nvPr/>
        </p:nvPicPr>
        <p:blipFill>
          <a:blip r:embed="rId13"/>
          <a:stretch>
            <a:fillRect/>
          </a:stretch>
        </p:blipFill>
        <p:spPr>
          <a:xfrm>
            <a:off x="5829658" y="2924245"/>
            <a:ext cx="204648" cy="178545"/>
          </a:xfrm>
          <a:prstGeom prst="rect">
            <a:avLst/>
          </a:prstGeom>
        </p:spPr>
      </p:pic>
      <p:pic>
        <p:nvPicPr>
          <p:cNvPr id="18" name="Image 13" descr="preencoded.png">    </p:cNvPr>
          <p:cNvPicPr>
            <a:picLocks noChangeAspect="1"/>
          </p:cNvPicPr>
          <p:nvPr/>
        </p:nvPicPr>
        <p:blipFill>
          <a:blip r:embed="rId14"/>
          <a:stretch>
            <a:fillRect/>
          </a:stretch>
        </p:blipFill>
        <p:spPr>
          <a:xfrm>
            <a:off x="5824365" y="3062237"/>
            <a:ext cx="144275" cy="148680"/>
          </a:xfrm>
          <a:prstGeom prst="rect">
            <a:avLst/>
          </a:prstGeom>
        </p:spPr>
      </p:pic>
      <p:pic>
        <p:nvPicPr>
          <p:cNvPr id="19" name="Image 14" descr="preencoded.png">    </p:cNvPr>
          <p:cNvPicPr>
            <a:picLocks noChangeAspect="1"/>
          </p:cNvPicPr>
          <p:nvPr/>
        </p:nvPicPr>
        <p:blipFill>
          <a:blip r:embed="rId15"/>
          <a:stretch>
            <a:fillRect/>
          </a:stretch>
        </p:blipFill>
        <p:spPr>
          <a:xfrm>
            <a:off x="5867684" y="2777894"/>
            <a:ext cx="29296" cy="49197"/>
          </a:xfrm>
          <a:prstGeom prst="rect">
            <a:avLst/>
          </a:prstGeom>
        </p:spPr>
      </p:pic>
      <p:pic>
        <p:nvPicPr>
          <p:cNvPr id="20" name="Image 15" descr="preencoded.png">    </p:cNvPr>
          <p:cNvPicPr>
            <a:picLocks noChangeAspect="1"/>
          </p:cNvPicPr>
          <p:nvPr/>
        </p:nvPicPr>
        <p:blipFill>
          <a:blip r:embed="rId16"/>
          <a:stretch>
            <a:fillRect/>
          </a:stretch>
        </p:blipFill>
        <p:spPr>
          <a:xfrm>
            <a:off x="5727422" y="2694622"/>
            <a:ext cx="158693" cy="184613"/>
          </a:xfrm>
          <a:prstGeom prst="rect">
            <a:avLst/>
          </a:prstGeom>
        </p:spPr>
      </p:pic>
      <p:pic>
        <p:nvPicPr>
          <p:cNvPr id="21" name="Image 16" descr="preencoded.png">    </p:cNvPr>
          <p:cNvPicPr>
            <a:picLocks noChangeAspect="1"/>
          </p:cNvPicPr>
          <p:nvPr/>
        </p:nvPicPr>
        <p:blipFill>
          <a:blip r:embed="rId17"/>
          <a:stretch>
            <a:fillRect/>
          </a:stretch>
        </p:blipFill>
        <p:spPr>
          <a:xfrm>
            <a:off x="5645204" y="2654229"/>
            <a:ext cx="267909" cy="211868"/>
          </a:xfrm>
          <a:prstGeom prst="rect">
            <a:avLst/>
          </a:prstGeom>
        </p:spPr>
      </p:pic>
      <p:pic>
        <p:nvPicPr>
          <p:cNvPr id="22" name="Image 17" descr="preencoded.png">    </p:cNvPr>
          <p:cNvPicPr>
            <a:picLocks noChangeAspect="1"/>
          </p:cNvPicPr>
          <p:nvPr/>
        </p:nvPicPr>
        <p:blipFill>
          <a:blip r:embed="rId18"/>
          <a:stretch>
            <a:fillRect/>
          </a:stretch>
        </p:blipFill>
        <p:spPr>
          <a:xfrm>
            <a:off x="5706368" y="2613935"/>
            <a:ext cx="81921" cy="88714"/>
          </a:xfrm>
          <a:prstGeom prst="rect">
            <a:avLst/>
          </a:prstGeom>
        </p:spPr>
      </p:pic>
      <p:pic>
        <p:nvPicPr>
          <p:cNvPr id="23" name="Image 18" descr="preencoded.png">    </p:cNvPr>
          <p:cNvPicPr>
            <a:picLocks noChangeAspect="1"/>
          </p:cNvPicPr>
          <p:nvPr/>
        </p:nvPicPr>
        <p:blipFill>
          <a:blip r:embed="rId19"/>
          <a:stretch>
            <a:fillRect/>
          </a:stretch>
        </p:blipFill>
        <p:spPr>
          <a:xfrm>
            <a:off x="5824965" y="2795814"/>
            <a:ext cx="36835" cy="36834"/>
          </a:xfrm>
          <a:prstGeom prst="rect">
            <a:avLst/>
          </a:prstGeom>
        </p:spPr>
      </p:pic>
      <p:pic>
        <p:nvPicPr>
          <p:cNvPr id="24" name="Image 19" descr="preencoded.png">    </p:cNvPr>
          <p:cNvPicPr>
            <a:picLocks noChangeAspect="1"/>
          </p:cNvPicPr>
          <p:nvPr/>
        </p:nvPicPr>
        <p:blipFill>
          <a:blip r:embed="rId20"/>
          <a:stretch>
            <a:fillRect/>
          </a:stretch>
        </p:blipFill>
        <p:spPr>
          <a:xfrm>
            <a:off x="5771652" y="2761091"/>
            <a:ext cx="45481" cy="51726"/>
          </a:xfrm>
          <a:prstGeom prst="rect">
            <a:avLst/>
          </a:prstGeom>
        </p:spPr>
      </p:pic>
      <p:pic>
        <p:nvPicPr>
          <p:cNvPr id="25" name="Image 20" descr="preencoded.png">    </p:cNvPr>
          <p:cNvPicPr>
            <a:picLocks noChangeAspect="1"/>
          </p:cNvPicPr>
          <p:nvPr/>
        </p:nvPicPr>
        <p:blipFill>
          <a:blip r:embed="rId21"/>
          <a:stretch>
            <a:fillRect/>
          </a:stretch>
        </p:blipFill>
        <p:spPr>
          <a:xfrm>
            <a:off x="5782768" y="2776857"/>
            <a:ext cx="15608" cy="15316"/>
          </a:xfrm>
          <a:prstGeom prst="rect">
            <a:avLst/>
          </a:prstGeom>
        </p:spPr>
      </p:pic>
      <p:pic>
        <p:nvPicPr>
          <p:cNvPr id="26" name="Image 21" descr="preencoded.png">    </p:cNvPr>
          <p:cNvPicPr>
            <a:picLocks noChangeAspect="1"/>
          </p:cNvPicPr>
          <p:nvPr/>
        </p:nvPicPr>
        <p:blipFill>
          <a:blip r:embed="rId22"/>
          <a:stretch>
            <a:fillRect/>
          </a:stretch>
        </p:blipFill>
        <p:spPr>
          <a:xfrm>
            <a:off x="5734417" y="2800377"/>
            <a:ext cx="96659" cy="141657"/>
          </a:xfrm>
          <a:prstGeom prst="rect">
            <a:avLst/>
          </a:prstGeom>
        </p:spPr>
      </p:pic>
      <p:pic>
        <p:nvPicPr>
          <p:cNvPr id="27" name="Image 22" descr="preencoded.png">    </p:cNvPr>
          <p:cNvPicPr>
            <a:picLocks noChangeAspect="1"/>
          </p:cNvPicPr>
          <p:nvPr/>
        </p:nvPicPr>
        <p:blipFill>
          <a:blip r:embed="rId23"/>
          <a:stretch>
            <a:fillRect/>
          </a:stretch>
        </p:blipFill>
        <p:spPr>
          <a:xfrm>
            <a:off x="5751533" y="2824675"/>
            <a:ext cx="79544" cy="101133"/>
          </a:xfrm>
          <a:prstGeom prst="rect">
            <a:avLst/>
          </a:prstGeom>
        </p:spPr>
      </p:pic>
      <p:pic>
        <p:nvPicPr>
          <p:cNvPr id="28" name="Image 23" descr="preencoded.png">    </p:cNvPr>
          <p:cNvPicPr>
            <a:picLocks noChangeAspect="1"/>
          </p:cNvPicPr>
          <p:nvPr/>
        </p:nvPicPr>
        <p:blipFill>
          <a:blip r:embed="rId24"/>
          <a:stretch>
            <a:fillRect/>
          </a:stretch>
        </p:blipFill>
        <p:spPr>
          <a:xfrm>
            <a:off x="5652320" y="3493255"/>
            <a:ext cx="5260" cy="482136"/>
          </a:xfrm>
          <a:prstGeom prst="rect">
            <a:avLst/>
          </a:prstGeom>
        </p:spPr>
      </p:pic>
      <p:pic>
        <p:nvPicPr>
          <p:cNvPr id="29" name="Image 24" descr="preencoded.png">    </p:cNvPr>
          <p:cNvPicPr>
            <a:picLocks noChangeAspect="1"/>
          </p:cNvPicPr>
          <p:nvPr/>
        </p:nvPicPr>
        <p:blipFill>
          <a:blip r:embed="rId25"/>
          <a:stretch>
            <a:fillRect/>
          </a:stretch>
        </p:blipFill>
        <p:spPr>
          <a:xfrm>
            <a:off x="5510533" y="3465293"/>
            <a:ext cx="288820" cy="50326"/>
          </a:xfrm>
          <a:prstGeom prst="rect">
            <a:avLst/>
          </a:prstGeom>
        </p:spPr>
      </p:pic>
      <p:pic>
        <p:nvPicPr>
          <p:cNvPr id="30" name="Image 25" descr="preencoded.png">    </p:cNvPr>
          <p:cNvPicPr>
            <a:picLocks noChangeAspect="1"/>
          </p:cNvPicPr>
          <p:nvPr/>
        </p:nvPicPr>
        <p:blipFill>
          <a:blip r:embed="rId26"/>
          <a:stretch>
            <a:fillRect/>
          </a:stretch>
        </p:blipFill>
        <p:spPr>
          <a:xfrm>
            <a:off x="5579980" y="3940978"/>
            <a:ext cx="149944" cy="33010"/>
          </a:xfrm>
          <a:prstGeom prst="rect">
            <a:avLst/>
          </a:prstGeom>
        </p:spPr>
      </p:pic>
      <p:pic>
        <p:nvPicPr>
          <p:cNvPr id="31" name="Image 26" descr="preencoded.png">    </p:cNvPr>
          <p:cNvPicPr>
            <a:picLocks noChangeAspect="1"/>
          </p:cNvPicPr>
          <p:nvPr/>
        </p:nvPicPr>
        <p:blipFill>
          <a:blip r:embed="rId27"/>
          <a:stretch>
            <a:fillRect/>
          </a:stretch>
        </p:blipFill>
        <p:spPr>
          <a:xfrm>
            <a:off x="6426719" y="3144048"/>
            <a:ext cx="5260" cy="831345"/>
          </a:xfrm>
          <a:prstGeom prst="rect">
            <a:avLst/>
          </a:prstGeom>
        </p:spPr>
      </p:pic>
      <p:pic>
        <p:nvPicPr>
          <p:cNvPr id="32" name="Image 27" descr="preencoded.png">    </p:cNvPr>
          <p:cNvPicPr>
            <a:picLocks noChangeAspect="1"/>
          </p:cNvPicPr>
          <p:nvPr/>
        </p:nvPicPr>
        <p:blipFill>
          <a:blip r:embed="rId28"/>
          <a:stretch>
            <a:fillRect/>
          </a:stretch>
        </p:blipFill>
        <p:spPr>
          <a:xfrm>
            <a:off x="6134095" y="3136189"/>
            <a:ext cx="590508" cy="46966"/>
          </a:xfrm>
          <a:prstGeom prst="rect">
            <a:avLst/>
          </a:prstGeom>
        </p:spPr>
      </p:pic>
      <p:pic>
        <p:nvPicPr>
          <p:cNvPr id="33" name="Image 28" descr="preencoded.png">    </p:cNvPr>
          <p:cNvPicPr>
            <a:picLocks noChangeAspect="1"/>
          </p:cNvPicPr>
          <p:nvPr/>
        </p:nvPicPr>
        <p:blipFill>
          <a:blip r:embed="rId29"/>
          <a:stretch>
            <a:fillRect/>
          </a:stretch>
        </p:blipFill>
        <p:spPr>
          <a:xfrm>
            <a:off x="6189032" y="3111521"/>
            <a:ext cx="366057" cy="24641"/>
          </a:xfrm>
          <a:prstGeom prst="rect">
            <a:avLst/>
          </a:prstGeom>
        </p:spPr>
      </p:pic>
      <p:pic>
        <p:nvPicPr>
          <p:cNvPr id="34" name="Image 29" descr="preencoded.png">    </p:cNvPr>
          <p:cNvPicPr>
            <a:picLocks noChangeAspect="1"/>
          </p:cNvPicPr>
          <p:nvPr/>
        </p:nvPicPr>
        <p:blipFill>
          <a:blip r:embed="rId30"/>
          <a:stretch>
            <a:fillRect/>
          </a:stretch>
        </p:blipFill>
        <p:spPr>
          <a:xfrm>
            <a:off x="6285426" y="2863199"/>
            <a:ext cx="334961" cy="224342"/>
          </a:xfrm>
          <a:prstGeom prst="rect">
            <a:avLst/>
          </a:prstGeom>
        </p:spPr>
      </p:pic>
      <p:pic>
        <p:nvPicPr>
          <p:cNvPr id="35" name="Image 30" descr="preencoded.png">    </p:cNvPr>
          <p:cNvPicPr>
            <a:picLocks noChangeAspect="1"/>
          </p:cNvPicPr>
          <p:nvPr/>
        </p:nvPicPr>
        <p:blipFill>
          <a:blip r:embed="rId31"/>
          <a:stretch>
            <a:fillRect/>
          </a:stretch>
        </p:blipFill>
        <p:spPr>
          <a:xfrm>
            <a:off x="6245930" y="2826071"/>
            <a:ext cx="426220" cy="285463"/>
          </a:xfrm>
          <a:prstGeom prst="rect">
            <a:avLst/>
          </a:prstGeom>
        </p:spPr>
      </p:pic>
      <p:pic>
        <p:nvPicPr>
          <p:cNvPr id="36" name="Image 31" descr="preencoded.png">    </p:cNvPr>
          <p:cNvPicPr>
            <a:picLocks noChangeAspect="1"/>
          </p:cNvPicPr>
          <p:nvPr/>
        </p:nvPicPr>
        <p:blipFill>
          <a:blip r:embed="rId32"/>
          <a:stretch>
            <a:fillRect/>
          </a:stretch>
        </p:blipFill>
        <p:spPr>
          <a:xfrm>
            <a:off x="6242014" y="2823440"/>
            <a:ext cx="434067" cy="290725"/>
          </a:xfrm>
          <a:prstGeom prst="rect">
            <a:avLst/>
          </a:prstGeom>
        </p:spPr>
      </p:pic>
      <p:pic>
        <p:nvPicPr>
          <p:cNvPr id="37" name="Image 32" descr="preencoded.png">    </p:cNvPr>
          <p:cNvPicPr>
            <a:picLocks noChangeAspect="1"/>
          </p:cNvPicPr>
          <p:nvPr/>
        </p:nvPicPr>
        <p:blipFill>
          <a:blip r:embed="rId33"/>
          <a:stretch>
            <a:fillRect/>
          </a:stretch>
        </p:blipFill>
        <p:spPr>
          <a:xfrm>
            <a:off x="7955589" y="2485936"/>
            <a:ext cx="110198" cy="161290"/>
          </a:xfrm>
          <a:prstGeom prst="rect">
            <a:avLst/>
          </a:prstGeom>
        </p:spPr>
      </p:pic>
      <p:pic>
        <p:nvPicPr>
          <p:cNvPr id="38" name="Image 33" descr="preencoded.png">    </p:cNvPr>
          <p:cNvPicPr>
            <a:picLocks noChangeAspect="1"/>
          </p:cNvPicPr>
          <p:nvPr/>
        </p:nvPicPr>
        <p:blipFill>
          <a:blip r:embed="rId34"/>
          <a:stretch>
            <a:fillRect/>
          </a:stretch>
        </p:blipFill>
        <p:spPr>
          <a:xfrm>
            <a:off x="7955589" y="2489146"/>
            <a:ext cx="81614" cy="104187"/>
          </a:xfrm>
          <a:prstGeom prst="rect">
            <a:avLst/>
          </a:prstGeom>
        </p:spPr>
      </p:pic>
      <p:pic>
        <p:nvPicPr>
          <p:cNvPr id="39" name="Image 34" descr="preencoded.png">    </p:cNvPr>
          <p:cNvPicPr>
            <a:picLocks noChangeAspect="1"/>
          </p:cNvPicPr>
          <p:nvPr/>
        </p:nvPicPr>
        <p:blipFill>
          <a:blip r:embed="rId35"/>
          <a:stretch>
            <a:fillRect/>
          </a:stretch>
        </p:blipFill>
        <p:spPr>
          <a:xfrm>
            <a:off x="7897271" y="2373119"/>
            <a:ext cx="160097" cy="185073"/>
          </a:xfrm>
          <a:prstGeom prst="rect">
            <a:avLst/>
          </a:prstGeom>
        </p:spPr>
      </p:pic>
      <p:pic>
        <p:nvPicPr>
          <p:cNvPr id="40" name="Image 35" descr="preencoded.png">    </p:cNvPr>
          <p:cNvPicPr>
            <a:picLocks noChangeAspect="1"/>
          </p:cNvPicPr>
          <p:nvPr/>
        </p:nvPicPr>
        <p:blipFill>
          <a:blip r:embed="rId36"/>
          <a:stretch>
            <a:fillRect/>
          </a:stretch>
        </p:blipFill>
        <p:spPr>
          <a:xfrm>
            <a:off x="7842493" y="2329484"/>
            <a:ext cx="247143" cy="147980"/>
          </a:xfrm>
          <a:prstGeom prst="rect">
            <a:avLst/>
          </a:prstGeom>
        </p:spPr>
      </p:pic>
      <p:pic>
        <p:nvPicPr>
          <p:cNvPr id="41" name="Image 36" descr="preencoded.png">    </p:cNvPr>
          <p:cNvPicPr>
            <a:picLocks noChangeAspect="1"/>
          </p:cNvPicPr>
          <p:nvPr/>
        </p:nvPicPr>
        <p:blipFill>
          <a:blip r:embed="rId37"/>
          <a:stretch>
            <a:fillRect/>
          </a:stretch>
        </p:blipFill>
        <p:spPr>
          <a:xfrm>
            <a:off x="7972188" y="2460691"/>
            <a:ext cx="38151" cy="38151"/>
          </a:xfrm>
          <a:prstGeom prst="rect">
            <a:avLst/>
          </a:prstGeom>
        </p:spPr>
      </p:pic>
      <p:pic>
        <p:nvPicPr>
          <p:cNvPr id="42" name="Image 37" descr="preencoded.png">    </p:cNvPr>
          <p:cNvPicPr>
            <a:picLocks noChangeAspect="1"/>
          </p:cNvPicPr>
          <p:nvPr/>
        </p:nvPicPr>
        <p:blipFill>
          <a:blip r:embed="rId38"/>
          <a:stretch>
            <a:fillRect/>
          </a:stretch>
        </p:blipFill>
        <p:spPr>
          <a:xfrm>
            <a:off x="7900401" y="2478412"/>
            <a:ext cx="14260" cy="33677"/>
          </a:xfrm>
          <a:prstGeom prst="rect">
            <a:avLst/>
          </a:prstGeom>
        </p:spPr>
      </p:pic>
      <p:pic>
        <p:nvPicPr>
          <p:cNvPr id="43" name="Image 38" descr="preencoded.png">    </p:cNvPr>
          <p:cNvPicPr>
            <a:picLocks noChangeAspect="1"/>
          </p:cNvPicPr>
          <p:nvPr/>
        </p:nvPicPr>
        <p:blipFill>
          <a:blip r:embed="rId39"/>
          <a:stretch>
            <a:fillRect/>
          </a:stretch>
        </p:blipFill>
        <p:spPr>
          <a:xfrm>
            <a:off x="7909592" y="2457294"/>
            <a:ext cx="9651" cy="16224"/>
          </a:xfrm>
          <a:prstGeom prst="rect">
            <a:avLst/>
          </a:prstGeom>
        </p:spPr>
      </p:pic>
      <p:pic>
        <p:nvPicPr>
          <p:cNvPr id="44" name="Image 39" descr="preencoded.png">    </p:cNvPr>
          <p:cNvPicPr>
            <a:picLocks noChangeAspect="1"/>
          </p:cNvPicPr>
          <p:nvPr/>
        </p:nvPicPr>
        <p:blipFill>
          <a:blip r:embed="rId40"/>
          <a:stretch>
            <a:fillRect/>
          </a:stretch>
        </p:blipFill>
        <p:spPr>
          <a:xfrm>
            <a:off x="7948654" y="2453305"/>
            <a:ext cx="10451" cy="17581"/>
          </a:xfrm>
          <a:prstGeom prst="rect">
            <a:avLst/>
          </a:prstGeom>
        </p:spPr>
      </p:pic>
      <p:pic>
        <p:nvPicPr>
          <p:cNvPr id="45" name="Image 40" descr="preencoded.png">    </p:cNvPr>
          <p:cNvPicPr>
            <a:picLocks noChangeAspect="1"/>
          </p:cNvPicPr>
          <p:nvPr/>
        </p:nvPicPr>
        <p:blipFill>
          <a:blip r:embed="rId41"/>
          <a:stretch>
            <a:fillRect/>
          </a:stretch>
        </p:blipFill>
        <p:spPr>
          <a:xfrm>
            <a:off x="7918070" y="2471756"/>
            <a:ext cx="12125" cy="26741"/>
          </a:xfrm>
          <a:prstGeom prst="rect">
            <a:avLst/>
          </a:prstGeom>
        </p:spPr>
      </p:pic>
      <p:pic>
        <p:nvPicPr>
          <p:cNvPr id="46" name="Image 41" descr="preencoded.png">    </p:cNvPr>
          <p:cNvPicPr>
            <a:picLocks noChangeAspect="1"/>
          </p:cNvPicPr>
          <p:nvPr/>
        </p:nvPicPr>
        <p:blipFill>
          <a:blip r:embed="rId42"/>
          <a:stretch>
            <a:fillRect/>
          </a:stretch>
        </p:blipFill>
        <p:spPr>
          <a:xfrm>
            <a:off x="7933999" y="2499377"/>
            <a:ext cx="29282" cy="18120"/>
          </a:xfrm>
          <a:prstGeom prst="rect">
            <a:avLst/>
          </a:prstGeom>
        </p:spPr>
      </p:pic>
      <p:pic>
        <p:nvPicPr>
          <p:cNvPr id="47" name="Image 42" descr="preencoded.png">    </p:cNvPr>
          <p:cNvPicPr>
            <a:picLocks noChangeAspect="1"/>
          </p:cNvPicPr>
          <p:nvPr/>
        </p:nvPicPr>
        <p:blipFill>
          <a:blip r:embed="rId43"/>
          <a:stretch>
            <a:fillRect/>
          </a:stretch>
        </p:blipFill>
        <p:spPr>
          <a:xfrm>
            <a:off x="7947492" y="2437204"/>
            <a:ext cx="28287" cy="11827"/>
          </a:xfrm>
          <a:prstGeom prst="rect">
            <a:avLst/>
          </a:prstGeom>
        </p:spPr>
      </p:pic>
      <p:pic>
        <p:nvPicPr>
          <p:cNvPr id="48" name="Image 43" descr="preencoded.png">    </p:cNvPr>
          <p:cNvPicPr>
            <a:picLocks noChangeAspect="1"/>
          </p:cNvPicPr>
          <p:nvPr/>
        </p:nvPicPr>
        <p:blipFill>
          <a:blip r:embed="rId44"/>
          <a:stretch>
            <a:fillRect/>
          </a:stretch>
        </p:blipFill>
        <p:spPr>
          <a:xfrm>
            <a:off x="7898806" y="2440439"/>
            <a:ext cx="22780" cy="10289"/>
          </a:xfrm>
          <a:prstGeom prst="rect">
            <a:avLst/>
          </a:prstGeom>
        </p:spPr>
      </p:pic>
      <p:pic>
        <p:nvPicPr>
          <p:cNvPr id="49" name="Image 44" descr="preencoded.png">    </p:cNvPr>
          <p:cNvPicPr>
            <a:picLocks noChangeAspect="1"/>
          </p:cNvPicPr>
          <p:nvPr/>
        </p:nvPicPr>
        <p:blipFill>
          <a:blip r:embed="rId45"/>
          <a:stretch>
            <a:fillRect/>
          </a:stretch>
        </p:blipFill>
        <p:spPr>
          <a:xfrm>
            <a:off x="8026110" y="2436149"/>
            <a:ext cx="50299" cy="57393"/>
          </a:xfrm>
          <a:prstGeom prst="rect">
            <a:avLst/>
          </a:prstGeom>
        </p:spPr>
      </p:pic>
      <p:pic>
        <p:nvPicPr>
          <p:cNvPr id="50" name="Image 45" descr="preencoded.png">    </p:cNvPr>
          <p:cNvPicPr>
            <a:picLocks noChangeAspect="1"/>
          </p:cNvPicPr>
          <p:nvPr/>
        </p:nvPicPr>
        <p:blipFill>
          <a:blip r:embed="rId46"/>
          <a:stretch>
            <a:fillRect/>
          </a:stretch>
        </p:blipFill>
        <p:spPr>
          <a:xfrm>
            <a:off x="8050695" y="2456627"/>
            <a:ext cx="15013" cy="21193"/>
          </a:xfrm>
          <a:prstGeom prst="rect">
            <a:avLst/>
          </a:prstGeom>
        </p:spPr>
      </p:pic>
      <p:pic>
        <p:nvPicPr>
          <p:cNvPr id="51" name="Image 46" descr="preencoded.png">    </p:cNvPr>
          <p:cNvPicPr>
            <a:picLocks noChangeAspect="1"/>
          </p:cNvPicPr>
          <p:nvPr/>
        </p:nvPicPr>
        <p:blipFill>
          <a:blip r:embed="rId47"/>
          <a:stretch>
            <a:fillRect/>
          </a:stretch>
        </p:blipFill>
        <p:spPr>
          <a:xfrm>
            <a:off x="8370470" y="2142001"/>
            <a:ext cx="119272" cy="194049"/>
          </a:xfrm>
          <a:prstGeom prst="rect">
            <a:avLst/>
          </a:prstGeom>
        </p:spPr>
      </p:pic>
      <p:pic>
        <p:nvPicPr>
          <p:cNvPr id="52" name="Image 47" descr="preencoded.png">    </p:cNvPr>
          <p:cNvPicPr>
            <a:picLocks noChangeAspect="1"/>
          </p:cNvPicPr>
          <p:nvPr/>
        </p:nvPicPr>
        <p:blipFill>
          <a:blip r:embed="rId48"/>
          <a:stretch>
            <a:fillRect/>
          </a:stretch>
        </p:blipFill>
        <p:spPr>
          <a:xfrm>
            <a:off x="8046830" y="2299872"/>
            <a:ext cx="426220" cy="435429"/>
          </a:xfrm>
          <a:prstGeom prst="rect">
            <a:avLst/>
          </a:prstGeom>
        </p:spPr>
      </p:pic>
      <p:pic>
        <p:nvPicPr>
          <p:cNvPr id="53" name="Image 48" descr="preencoded.png">    </p:cNvPr>
          <p:cNvPicPr>
            <a:picLocks noChangeAspect="1"/>
          </p:cNvPicPr>
          <p:nvPr/>
        </p:nvPicPr>
        <p:blipFill>
          <a:blip r:embed="rId49"/>
          <a:stretch>
            <a:fillRect/>
          </a:stretch>
        </p:blipFill>
        <p:spPr>
          <a:xfrm>
            <a:off x="7871385" y="2572180"/>
            <a:ext cx="360494" cy="453695"/>
          </a:xfrm>
          <a:prstGeom prst="rect">
            <a:avLst/>
          </a:prstGeom>
        </p:spPr>
      </p:pic>
      <p:pic>
        <p:nvPicPr>
          <p:cNvPr id="54" name="Image 49" descr="preencoded.png">    </p:cNvPr>
          <p:cNvPicPr>
            <a:picLocks noChangeAspect="1"/>
          </p:cNvPicPr>
          <p:nvPr/>
        </p:nvPicPr>
        <p:blipFill>
          <a:blip r:embed="rId50"/>
          <a:stretch>
            <a:fillRect/>
          </a:stretch>
        </p:blipFill>
        <p:spPr>
          <a:xfrm>
            <a:off x="7868664" y="2717229"/>
            <a:ext cx="23701" cy="190370"/>
          </a:xfrm>
          <a:prstGeom prst="rect">
            <a:avLst/>
          </a:prstGeom>
        </p:spPr>
      </p:pic>
      <p:pic>
        <p:nvPicPr>
          <p:cNvPr id="55" name="Image 50" descr="preencoded.png">    </p:cNvPr>
          <p:cNvPicPr>
            <a:picLocks noChangeAspect="1"/>
          </p:cNvPicPr>
          <p:nvPr/>
        </p:nvPicPr>
        <p:blipFill>
          <a:blip r:embed="rId51"/>
          <a:stretch>
            <a:fillRect/>
          </a:stretch>
        </p:blipFill>
        <p:spPr>
          <a:xfrm>
            <a:off x="8191542" y="2707676"/>
            <a:ext cx="32896" cy="82219"/>
          </a:xfrm>
          <a:prstGeom prst="rect">
            <a:avLst/>
          </a:prstGeom>
        </p:spPr>
      </p:pic>
      <p:pic>
        <p:nvPicPr>
          <p:cNvPr id="56" name="Image 51" descr="preencoded.png">    </p:cNvPr>
          <p:cNvPicPr>
            <a:picLocks noChangeAspect="1"/>
          </p:cNvPicPr>
          <p:nvPr/>
        </p:nvPicPr>
        <p:blipFill>
          <a:blip r:embed="rId52"/>
          <a:stretch>
            <a:fillRect/>
          </a:stretch>
        </p:blipFill>
        <p:spPr>
          <a:xfrm>
            <a:off x="8419774" y="2198579"/>
            <a:ext cx="70159" cy="39246"/>
          </a:xfrm>
          <a:prstGeom prst="rect">
            <a:avLst/>
          </a:prstGeom>
        </p:spPr>
      </p:pic>
      <p:pic>
        <p:nvPicPr>
          <p:cNvPr id="57" name="Image 52" descr="preencoded.png">    </p:cNvPr>
          <p:cNvPicPr>
            <a:picLocks noChangeAspect="1"/>
          </p:cNvPicPr>
          <p:nvPr/>
        </p:nvPicPr>
        <p:blipFill>
          <a:blip r:embed="rId53"/>
          <a:stretch>
            <a:fillRect/>
          </a:stretch>
        </p:blipFill>
        <p:spPr>
          <a:xfrm>
            <a:off x="7498235" y="2732163"/>
            <a:ext cx="194867" cy="116511"/>
          </a:xfrm>
          <a:prstGeom prst="rect">
            <a:avLst/>
          </a:prstGeom>
        </p:spPr>
      </p:pic>
      <p:pic>
        <p:nvPicPr>
          <p:cNvPr id="58" name="Image 53" descr="preencoded.png">    </p:cNvPr>
          <p:cNvPicPr>
            <a:picLocks noChangeAspect="1"/>
          </p:cNvPicPr>
          <p:nvPr/>
        </p:nvPicPr>
        <p:blipFill>
          <a:blip r:embed="rId54"/>
          <a:stretch>
            <a:fillRect/>
          </a:stretch>
        </p:blipFill>
        <p:spPr>
          <a:xfrm>
            <a:off x="7642078" y="2584716"/>
            <a:ext cx="371833" cy="367814"/>
          </a:xfrm>
          <a:prstGeom prst="rect">
            <a:avLst/>
          </a:prstGeom>
        </p:spPr>
      </p:pic>
      <p:pic>
        <p:nvPicPr>
          <p:cNvPr id="59" name="Image 54" descr="preencoded.png">    </p:cNvPr>
          <p:cNvPicPr>
            <a:picLocks noChangeAspect="1"/>
          </p:cNvPicPr>
          <p:nvPr/>
        </p:nvPicPr>
        <p:blipFill>
          <a:blip r:embed="rId55"/>
          <a:stretch>
            <a:fillRect/>
          </a:stretch>
        </p:blipFill>
        <p:spPr>
          <a:xfrm>
            <a:off x="8028180" y="2928452"/>
            <a:ext cx="233381" cy="918802"/>
          </a:xfrm>
          <a:prstGeom prst="rect">
            <a:avLst/>
          </a:prstGeom>
        </p:spPr>
      </p:pic>
      <p:pic>
        <p:nvPicPr>
          <p:cNvPr id="60" name="Image 55" descr="preencoded.png">    </p:cNvPr>
          <p:cNvPicPr>
            <a:picLocks noChangeAspect="1"/>
          </p:cNvPicPr>
          <p:nvPr/>
        </p:nvPicPr>
        <p:blipFill>
          <a:blip r:embed="rId56"/>
          <a:stretch>
            <a:fillRect/>
          </a:stretch>
        </p:blipFill>
        <p:spPr>
          <a:xfrm>
            <a:off x="7815565" y="2974707"/>
            <a:ext cx="288313" cy="870444"/>
          </a:xfrm>
          <a:prstGeom prst="rect">
            <a:avLst/>
          </a:prstGeom>
        </p:spPr>
      </p:pic>
      <p:pic>
        <p:nvPicPr>
          <p:cNvPr id="61" name="Image 56" descr="preencoded.png">    </p:cNvPr>
          <p:cNvPicPr>
            <a:picLocks noChangeAspect="1"/>
          </p:cNvPicPr>
          <p:nvPr/>
        </p:nvPicPr>
        <p:blipFill>
          <a:blip r:embed="rId57"/>
          <a:stretch>
            <a:fillRect/>
          </a:stretch>
        </p:blipFill>
        <p:spPr>
          <a:xfrm>
            <a:off x="7986754" y="3140630"/>
            <a:ext cx="57462" cy="193384"/>
          </a:xfrm>
          <a:prstGeom prst="rect">
            <a:avLst/>
          </a:prstGeom>
        </p:spPr>
      </p:pic>
      <p:pic>
        <p:nvPicPr>
          <p:cNvPr id="62" name="Image 57" descr="preencoded.png">    </p:cNvPr>
          <p:cNvPicPr>
            <a:picLocks noChangeAspect="1"/>
          </p:cNvPicPr>
          <p:nvPr/>
        </p:nvPicPr>
        <p:blipFill>
          <a:blip r:embed="rId58"/>
          <a:stretch>
            <a:fillRect/>
          </a:stretch>
        </p:blipFill>
        <p:spPr>
          <a:xfrm>
            <a:off x="8047918" y="3820979"/>
            <a:ext cx="189635" cy="153077"/>
          </a:xfrm>
          <a:prstGeom prst="rect">
            <a:avLst/>
          </a:prstGeom>
        </p:spPr>
      </p:pic>
      <p:pic>
        <p:nvPicPr>
          <p:cNvPr id="63" name="Image 58" descr="preencoded.png">    </p:cNvPr>
          <p:cNvPicPr>
            <a:picLocks noChangeAspect="1"/>
          </p:cNvPicPr>
          <p:nvPr/>
        </p:nvPicPr>
        <p:blipFill>
          <a:blip r:embed="rId59"/>
          <a:stretch>
            <a:fillRect/>
          </a:stretch>
        </p:blipFill>
        <p:spPr>
          <a:xfrm>
            <a:off x="8126123" y="3903266"/>
            <a:ext cx="32928" cy="29952"/>
          </a:xfrm>
          <a:prstGeom prst="rect">
            <a:avLst/>
          </a:prstGeom>
        </p:spPr>
      </p:pic>
      <p:pic>
        <p:nvPicPr>
          <p:cNvPr id="64" name="Image 59" descr="preencoded.png">    </p:cNvPr>
          <p:cNvPicPr>
            <a:picLocks noChangeAspect="1"/>
          </p:cNvPicPr>
          <p:nvPr/>
        </p:nvPicPr>
        <p:blipFill>
          <a:blip r:embed="rId60"/>
          <a:stretch>
            <a:fillRect/>
          </a:stretch>
        </p:blipFill>
        <p:spPr>
          <a:xfrm>
            <a:off x="8149447" y="3869259"/>
            <a:ext cx="64019" cy="5262"/>
          </a:xfrm>
          <a:prstGeom prst="rect">
            <a:avLst/>
          </a:prstGeom>
        </p:spPr>
      </p:pic>
      <p:pic>
        <p:nvPicPr>
          <p:cNvPr id="65" name="Image 60" descr="preencoded.png">    </p:cNvPr>
          <p:cNvPicPr>
            <a:picLocks noChangeAspect="1"/>
          </p:cNvPicPr>
          <p:nvPr/>
        </p:nvPicPr>
        <p:blipFill>
          <a:blip r:embed="rId61"/>
          <a:stretch>
            <a:fillRect/>
          </a:stretch>
        </p:blipFill>
        <p:spPr>
          <a:xfrm>
            <a:off x="7819458" y="3814124"/>
            <a:ext cx="189635" cy="159933"/>
          </a:xfrm>
          <a:prstGeom prst="rect">
            <a:avLst/>
          </a:prstGeom>
        </p:spPr>
      </p:pic>
      <p:pic>
        <p:nvPicPr>
          <p:cNvPr id="66" name="Image 61" descr="preencoded.png">    </p:cNvPr>
          <p:cNvPicPr>
            <a:picLocks noChangeAspect="1"/>
          </p:cNvPicPr>
          <p:nvPr/>
        </p:nvPicPr>
        <p:blipFill>
          <a:blip r:embed="rId62"/>
          <a:stretch>
            <a:fillRect/>
          </a:stretch>
        </p:blipFill>
        <p:spPr>
          <a:xfrm>
            <a:off x="7904559" y="3901255"/>
            <a:ext cx="39830" cy="38246"/>
          </a:xfrm>
          <a:prstGeom prst="rect">
            <a:avLst/>
          </a:prstGeom>
        </p:spPr>
      </p:pic>
      <p:pic>
        <p:nvPicPr>
          <p:cNvPr id="67" name="Image 62" descr="preencoded.png">    </p:cNvPr>
          <p:cNvPicPr>
            <a:picLocks noChangeAspect="1"/>
          </p:cNvPicPr>
          <p:nvPr/>
        </p:nvPicPr>
        <p:blipFill>
          <a:blip r:embed="rId63"/>
          <a:stretch>
            <a:fillRect/>
          </a:stretch>
        </p:blipFill>
        <p:spPr>
          <a:xfrm>
            <a:off x="7925814" y="3866627"/>
            <a:ext cx="64898" cy="5262"/>
          </a:xfrm>
          <a:prstGeom prst="rect">
            <a:avLst/>
          </a:prstGeom>
        </p:spPr>
      </p:pic>
      <p:pic>
        <p:nvPicPr>
          <p:cNvPr id="68" name="Image 63" descr="preencoded.png">    </p:cNvPr>
          <p:cNvPicPr>
            <a:picLocks noChangeAspect="1"/>
          </p:cNvPicPr>
          <p:nvPr/>
        </p:nvPicPr>
        <p:blipFill>
          <a:blip r:embed="rId64"/>
          <a:stretch>
            <a:fillRect/>
          </a:stretch>
        </p:blipFill>
        <p:spPr>
          <a:xfrm>
            <a:off x="7078307" y="3730888"/>
            <a:ext cx="413579" cy="243169"/>
          </a:xfrm>
          <a:prstGeom prst="rect">
            <a:avLst/>
          </a:prstGeom>
        </p:spPr>
      </p:pic>
      <p:pic>
        <p:nvPicPr>
          <p:cNvPr id="69" name="Image 64" descr="preencoded.png">    </p:cNvPr>
          <p:cNvPicPr>
            <a:picLocks noChangeAspect="1"/>
          </p:cNvPicPr>
          <p:nvPr/>
        </p:nvPicPr>
        <p:blipFill>
          <a:blip r:embed="rId65"/>
          <a:stretch>
            <a:fillRect/>
          </a:stretch>
        </p:blipFill>
        <p:spPr>
          <a:xfrm>
            <a:off x="7075098" y="3728257"/>
            <a:ext cx="419998" cy="248431"/>
          </a:xfrm>
          <a:prstGeom prst="rect">
            <a:avLst/>
          </a:prstGeom>
        </p:spPr>
      </p:pic>
      <p:pic>
        <p:nvPicPr>
          <p:cNvPr id="70" name="Image 65" descr="preencoded.png">    </p:cNvPr>
          <p:cNvPicPr>
            <a:picLocks noChangeAspect="1"/>
          </p:cNvPicPr>
          <p:nvPr/>
        </p:nvPicPr>
        <p:blipFill>
          <a:blip r:embed="rId66"/>
          <a:stretch>
            <a:fillRect/>
          </a:stretch>
        </p:blipFill>
        <p:spPr>
          <a:xfrm>
            <a:off x="7268966" y="3277576"/>
            <a:ext cx="319199" cy="495913"/>
          </a:xfrm>
          <a:prstGeom prst="rect">
            <a:avLst/>
          </a:prstGeom>
        </p:spPr>
      </p:pic>
      <p:pic>
        <p:nvPicPr>
          <p:cNvPr id="71" name="Image 66" descr="preencoded.png">    </p:cNvPr>
          <p:cNvPicPr>
            <a:picLocks noChangeAspect="1"/>
          </p:cNvPicPr>
          <p:nvPr/>
        </p:nvPicPr>
        <p:blipFill>
          <a:blip r:embed="rId67"/>
          <a:stretch>
            <a:fillRect/>
          </a:stretch>
        </p:blipFill>
        <p:spPr>
          <a:xfrm>
            <a:off x="7034412" y="3268530"/>
            <a:ext cx="256608" cy="497643"/>
          </a:xfrm>
          <a:prstGeom prst="rect">
            <a:avLst/>
          </a:prstGeom>
        </p:spPr>
      </p:pic>
      <p:pic>
        <p:nvPicPr>
          <p:cNvPr id="72" name="Image 67" descr="preencoded.png">    </p:cNvPr>
          <p:cNvPicPr>
            <a:picLocks noChangeAspect="1"/>
          </p:cNvPicPr>
          <p:nvPr/>
        </p:nvPicPr>
        <p:blipFill>
          <a:blip r:embed="rId68"/>
          <a:stretch>
            <a:fillRect/>
          </a:stretch>
        </p:blipFill>
        <p:spPr>
          <a:xfrm>
            <a:off x="6918764" y="3479317"/>
            <a:ext cx="360304" cy="294588"/>
          </a:xfrm>
          <a:prstGeom prst="rect">
            <a:avLst/>
          </a:prstGeom>
        </p:spPr>
      </p:pic>
      <p:pic>
        <p:nvPicPr>
          <p:cNvPr id="73" name="Image 68" descr="preencoded.png">    </p:cNvPr>
          <p:cNvPicPr>
            <a:picLocks noChangeAspect="1"/>
          </p:cNvPicPr>
          <p:nvPr/>
        </p:nvPicPr>
        <p:blipFill>
          <a:blip r:embed="rId69"/>
          <a:stretch>
            <a:fillRect/>
          </a:stretch>
        </p:blipFill>
        <p:spPr>
          <a:xfrm>
            <a:off x="7242804" y="3285888"/>
            <a:ext cx="132508" cy="486773"/>
          </a:xfrm>
          <a:prstGeom prst="rect">
            <a:avLst/>
          </a:prstGeom>
        </p:spPr>
      </p:pic>
      <p:pic>
        <p:nvPicPr>
          <p:cNvPr id="74" name="Image 69" descr="preencoded.png">    </p:cNvPr>
          <p:cNvPicPr>
            <a:picLocks noChangeAspect="1"/>
          </p:cNvPicPr>
          <p:nvPr/>
        </p:nvPicPr>
        <p:blipFill>
          <a:blip r:embed="rId70"/>
          <a:stretch>
            <a:fillRect/>
          </a:stretch>
        </p:blipFill>
        <p:spPr>
          <a:xfrm>
            <a:off x="7300243" y="3496858"/>
            <a:ext cx="248162" cy="292095"/>
          </a:xfrm>
          <a:prstGeom prst="rect">
            <a:avLst/>
          </a:prstGeom>
        </p:spPr>
      </p:pic>
      <p:pic>
        <p:nvPicPr>
          <p:cNvPr id="75" name="Image 70" descr="preencoded.png">    </p:cNvPr>
          <p:cNvPicPr>
            <a:picLocks noChangeAspect="1"/>
          </p:cNvPicPr>
          <p:nvPr/>
        </p:nvPicPr>
        <p:blipFill>
          <a:blip r:embed="rId71"/>
          <a:stretch>
            <a:fillRect/>
          </a:stretch>
        </p:blipFill>
        <p:spPr>
          <a:xfrm>
            <a:off x="5477145" y="2473079"/>
            <a:ext cx="368340" cy="5262"/>
          </a:xfrm>
          <a:prstGeom prst="rect">
            <a:avLst/>
          </a:prstGeom>
        </p:spPr>
      </p:pic>
      <p:pic>
        <p:nvPicPr>
          <p:cNvPr id="76" name="Image 71" descr="preencoded.png">    </p:cNvPr>
          <p:cNvPicPr>
            <a:picLocks noChangeAspect="1"/>
          </p:cNvPicPr>
          <p:nvPr/>
        </p:nvPicPr>
        <p:blipFill>
          <a:blip r:embed="rId72"/>
          <a:stretch>
            <a:fillRect/>
          </a:stretch>
        </p:blipFill>
        <p:spPr>
          <a:xfrm>
            <a:off x="5360603" y="2695836"/>
            <a:ext cx="28942" cy="28941"/>
          </a:xfrm>
          <a:prstGeom prst="rect">
            <a:avLst/>
          </a:prstGeom>
        </p:spPr>
      </p:pic>
      <p:pic>
        <p:nvPicPr>
          <p:cNvPr id="77" name="Image 72" descr="preencoded.png">    </p:cNvPr>
          <p:cNvPicPr>
            <a:picLocks noChangeAspect="1"/>
          </p:cNvPicPr>
          <p:nvPr/>
        </p:nvPicPr>
        <p:blipFill>
          <a:blip r:embed="rId73"/>
          <a:stretch>
            <a:fillRect/>
          </a:stretch>
        </p:blipFill>
        <p:spPr>
          <a:xfrm>
            <a:off x="5475047" y="2802391"/>
            <a:ext cx="28942" cy="28941"/>
          </a:xfrm>
          <a:prstGeom prst="rect">
            <a:avLst/>
          </a:prstGeom>
        </p:spPr>
      </p:pic>
      <p:pic>
        <p:nvPicPr>
          <p:cNvPr id="78" name="Image 73" descr="preencoded.png">    </p:cNvPr>
          <p:cNvPicPr>
            <a:picLocks noChangeAspect="1"/>
          </p:cNvPicPr>
          <p:nvPr/>
        </p:nvPicPr>
        <p:blipFill>
          <a:blip r:embed="rId74"/>
          <a:stretch>
            <a:fillRect/>
          </a:stretch>
        </p:blipFill>
        <p:spPr>
          <a:xfrm>
            <a:off x="5553973" y="2581388"/>
            <a:ext cx="28942" cy="28941"/>
          </a:xfrm>
          <a:prstGeom prst="rect">
            <a:avLst/>
          </a:prstGeom>
        </p:spPr>
      </p:pic>
      <p:pic>
        <p:nvPicPr>
          <p:cNvPr id="79" name="Image 74" descr="preencoded.png">    </p:cNvPr>
          <p:cNvPicPr>
            <a:picLocks noChangeAspect="1"/>
          </p:cNvPicPr>
          <p:nvPr/>
        </p:nvPicPr>
        <p:blipFill>
          <a:blip r:embed="rId75"/>
          <a:stretch>
            <a:fillRect/>
          </a:stretch>
        </p:blipFill>
        <p:spPr>
          <a:xfrm>
            <a:off x="5318503" y="2489741"/>
            <a:ext cx="659499" cy="329752"/>
          </a:xfrm>
          <a:prstGeom prst="rect">
            <a:avLst/>
          </a:prstGeom>
        </p:spPr>
      </p:pic>
      <p:pic>
        <p:nvPicPr>
          <p:cNvPr id="80" name="Image 75" descr="preencoded.png">    </p:cNvPr>
          <p:cNvPicPr>
            <a:picLocks noChangeAspect="1"/>
          </p:cNvPicPr>
          <p:nvPr/>
        </p:nvPicPr>
        <p:blipFill>
          <a:blip r:embed="rId76"/>
          <a:stretch>
            <a:fillRect/>
          </a:stretch>
        </p:blipFill>
        <p:spPr>
          <a:xfrm>
            <a:off x="5316173" y="2488143"/>
            <a:ext cx="663913" cy="336054"/>
          </a:xfrm>
          <a:prstGeom prst="rect">
            <a:avLst/>
          </a:prstGeom>
        </p:spPr>
      </p:pic>
      <p:pic>
        <p:nvPicPr>
          <p:cNvPr id="81" name="Image 76" descr="preencoded.png">    </p:cNvPr>
          <p:cNvPicPr>
            <a:picLocks noChangeAspect="1"/>
          </p:cNvPicPr>
          <p:nvPr/>
        </p:nvPicPr>
        <p:blipFill>
          <a:blip r:embed="rId77"/>
          <a:stretch>
            <a:fillRect/>
          </a:stretch>
        </p:blipFill>
        <p:spPr>
          <a:xfrm>
            <a:off x="5226969" y="2381843"/>
            <a:ext cx="868673" cy="572355"/>
          </a:xfrm>
          <a:prstGeom prst="rect">
            <a:avLst/>
          </a:prstGeom>
        </p:spPr>
      </p:pic>
      <p:pic>
        <p:nvPicPr>
          <p:cNvPr id="82" name="Image 77" descr="preencoded.png">    </p:cNvPr>
          <p:cNvPicPr>
            <a:picLocks noChangeAspect="1"/>
          </p:cNvPicPr>
          <p:nvPr/>
        </p:nvPicPr>
        <p:blipFill>
          <a:blip r:embed="rId78"/>
          <a:stretch>
            <a:fillRect/>
          </a:stretch>
        </p:blipFill>
        <p:spPr>
          <a:xfrm>
            <a:off x="5224463" y="2379332"/>
            <a:ext cx="873696" cy="577376"/>
          </a:xfrm>
          <a:prstGeom prst="rect">
            <a:avLst/>
          </a:prstGeom>
        </p:spPr>
      </p:pic>
      <p:pic>
        <p:nvPicPr>
          <p:cNvPr id="83" name="Image 78" descr="preencoded.png">    </p:cNvPr>
          <p:cNvPicPr>
            <a:picLocks noChangeAspect="1"/>
          </p:cNvPicPr>
          <p:nvPr/>
        </p:nvPicPr>
        <p:blipFill>
          <a:blip r:embed="rId79"/>
          <a:stretch>
            <a:fillRect/>
          </a:stretch>
        </p:blipFill>
        <p:spPr>
          <a:xfrm>
            <a:off x="5913095" y="2119649"/>
            <a:ext cx="379781" cy="641962"/>
          </a:xfrm>
          <a:prstGeom prst="rect">
            <a:avLst/>
          </a:prstGeom>
        </p:spPr>
      </p:pic>
      <p:pic>
        <p:nvPicPr>
          <p:cNvPr id="84" name="Image 79" descr="preencoded.png">    </p:cNvPr>
          <p:cNvPicPr>
            <a:picLocks noChangeAspect="1"/>
          </p:cNvPicPr>
          <p:nvPr/>
        </p:nvPicPr>
        <p:blipFill>
          <a:blip r:embed="rId80"/>
          <a:stretch>
            <a:fillRect/>
          </a:stretch>
        </p:blipFill>
        <p:spPr>
          <a:xfrm>
            <a:off x="5970980" y="2212611"/>
            <a:ext cx="249069" cy="228019"/>
          </a:xfrm>
          <a:prstGeom prst="rect">
            <a:avLst/>
          </a:prstGeom>
        </p:spPr>
      </p:pic>
      <p:pic>
        <p:nvPicPr>
          <p:cNvPr id="85" name="Image 80" descr="preencoded.png">    </p:cNvPr>
          <p:cNvPicPr>
            <a:picLocks noChangeAspect="1"/>
          </p:cNvPicPr>
          <p:nvPr/>
        </p:nvPicPr>
        <p:blipFill>
          <a:blip r:embed="rId81"/>
          <a:stretch>
            <a:fillRect/>
          </a:stretch>
        </p:blipFill>
        <p:spPr>
          <a:xfrm>
            <a:off x="5969282" y="2210722"/>
            <a:ext cx="252626" cy="231917"/>
          </a:xfrm>
          <a:prstGeom prst="rect">
            <a:avLst/>
          </a:prstGeom>
        </p:spPr>
      </p:pic>
      <p:pic>
        <p:nvPicPr>
          <p:cNvPr id="86" name="Image 81" descr="preencoded.png">    </p:cNvPr>
          <p:cNvPicPr>
            <a:picLocks noChangeAspect="1"/>
          </p:cNvPicPr>
          <p:nvPr/>
        </p:nvPicPr>
        <p:blipFill>
          <a:blip r:embed="rId82"/>
          <a:stretch>
            <a:fillRect/>
          </a:stretch>
        </p:blipFill>
        <p:spPr>
          <a:xfrm>
            <a:off x="5969143" y="2210713"/>
            <a:ext cx="252594" cy="231916"/>
          </a:xfrm>
          <a:prstGeom prst="rect">
            <a:avLst/>
          </a:prstGeom>
        </p:spPr>
      </p:pic>
      <p:pic>
        <p:nvPicPr>
          <p:cNvPr id="87" name="Image 82" descr="preencoded.png">    </p:cNvPr>
          <p:cNvPicPr>
            <a:picLocks noChangeAspect="1"/>
          </p:cNvPicPr>
          <p:nvPr/>
        </p:nvPicPr>
        <p:blipFill>
          <a:blip r:embed="rId83"/>
          <a:stretch>
            <a:fillRect/>
          </a:stretch>
        </p:blipFill>
        <p:spPr>
          <a:xfrm>
            <a:off x="7523276" y="2914208"/>
            <a:ext cx="436745" cy="415697"/>
          </a:xfrm>
          <a:prstGeom prst="rect">
            <a:avLst/>
          </a:prstGeom>
        </p:spPr>
      </p:pic>
      <p:pic>
        <p:nvPicPr>
          <p:cNvPr id="88" name="Image 83" descr="preencoded.png">    </p:cNvPr>
          <p:cNvPicPr>
            <a:picLocks noChangeAspect="1"/>
          </p:cNvPicPr>
          <p:nvPr/>
        </p:nvPicPr>
        <p:blipFill>
          <a:blip r:embed="rId84"/>
          <a:stretch>
            <a:fillRect/>
          </a:stretch>
        </p:blipFill>
        <p:spPr>
          <a:xfrm>
            <a:off x="7591676" y="3024710"/>
            <a:ext cx="244683" cy="17554"/>
          </a:xfrm>
          <a:prstGeom prst="rect">
            <a:avLst/>
          </a:prstGeom>
        </p:spPr>
      </p:pic>
      <p:pic>
        <p:nvPicPr>
          <p:cNvPr id="89" name="Image 84" descr="preencoded.png">    </p:cNvPr>
          <p:cNvPicPr>
            <a:picLocks noChangeAspect="1"/>
          </p:cNvPicPr>
          <p:nvPr/>
        </p:nvPicPr>
        <p:blipFill>
          <a:blip r:embed="rId85"/>
          <a:stretch>
            <a:fillRect/>
          </a:stretch>
        </p:blipFill>
        <p:spPr>
          <a:xfrm>
            <a:off x="7591676" y="3077330"/>
            <a:ext cx="244683" cy="17554"/>
          </a:xfrm>
          <a:prstGeom prst="rect">
            <a:avLst/>
          </a:prstGeom>
        </p:spPr>
      </p:pic>
      <p:pic>
        <p:nvPicPr>
          <p:cNvPr id="90" name="Image 85" descr="preencoded.png">    </p:cNvPr>
          <p:cNvPicPr>
            <a:picLocks noChangeAspect="1"/>
          </p:cNvPicPr>
          <p:nvPr/>
        </p:nvPicPr>
        <p:blipFill>
          <a:blip r:embed="rId86"/>
          <a:stretch>
            <a:fillRect/>
          </a:stretch>
        </p:blipFill>
        <p:spPr>
          <a:xfrm>
            <a:off x="7514086" y="2148962"/>
            <a:ext cx="369229" cy="358236"/>
          </a:xfrm>
          <a:prstGeom prst="rect">
            <a:avLst/>
          </a:prstGeom>
        </p:spPr>
      </p:pic>
      <p:pic>
        <p:nvPicPr>
          <p:cNvPr id="91" name="Image 86" descr="preencoded.png">    </p:cNvPr>
          <p:cNvPicPr>
            <a:picLocks noChangeAspect="1"/>
          </p:cNvPicPr>
          <p:nvPr/>
        </p:nvPicPr>
        <p:blipFill>
          <a:blip r:embed="rId87"/>
          <a:stretch>
            <a:fillRect/>
          </a:stretch>
        </p:blipFill>
        <p:spPr>
          <a:xfrm>
            <a:off x="7660398" y="2072194"/>
            <a:ext cx="226702" cy="184616"/>
          </a:xfrm>
          <a:prstGeom prst="rect">
            <a:avLst/>
          </a:prstGeom>
        </p:spPr>
      </p:pic>
      <p:pic>
        <p:nvPicPr>
          <p:cNvPr id="92" name="Image 87" descr="preencoded.png">    </p:cNvPr>
          <p:cNvPicPr>
            <a:picLocks noChangeAspect="1"/>
          </p:cNvPicPr>
          <p:nvPr/>
        </p:nvPicPr>
        <p:blipFill>
          <a:blip r:embed="rId88"/>
          <a:stretch>
            <a:fillRect/>
          </a:stretch>
        </p:blipFill>
        <p:spPr>
          <a:xfrm>
            <a:off x="7724198" y="1547411"/>
            <a:ext cx="45393" cy="51399"/>
          </a:xfrm>
          <a:prstGeom prst="rect">
            <a:avLst/>
          </a:prstGeom>
        </p:spPr>
      </p:pic>
      <p:pic>
        <p:nvPicPr>
          <p:cNvPr id="93" name="Image 88" descr="preencoded.png">    </p:cNvPr>
          <p:cNvPicPr>
            <a:picLocks noChangeAspect="1"/>
          </p:cNvPicPr>
          <p:nvPr/>
        </p:nvPicPr>
        <p:blipFill>
          <a:blip r:embed="rId89"/>
          <a:stretch>
            <a:fillRect/>
          </a:stretch>
        </p:blipFill>
        <p:spPr>
          <a:xfrm>
            <a:off x="7839740" y="1571195"/>
            <a:ext cx="307428" cy="13174"/>
          </a:xfrm>
          <a:prstGeom prst="rect">
            <a:avLst/>
          </a:prstGeom>
        </p:spPr>
      </p:pic>
      <p:pic>
        <p:nvPicPr>
          <p:cNvPr id="94" name="Image 89" descr="preencoded.png">    </p:cNvPr>
          <p:cNvPicPr>
            <a:picLocks noChangeAspect="1"/>
          </p:cNvPicPr>
          <p:nvPr/>
        </p:nvPicPr>
        <p:blipFill>
          <a:blip r:embed="rId90"/>
          <a:stretch>
            <a:fillRect/>
          </a:stretch>
        </p:blipFill>
        <p:spPr>
          <a:xfrm>
            <a:off x="7724198" y="1821760"/>
            <a:ext cx="57122" cy="104894"/>
          </a:xfrm>
          <a:prstGeom prst="rect">
            <a:avLst/>
          </a:prstGeom>
        </p:spPr>
      </p:pic>
      <p:pic>
        <p:nvPicPr>
          <p:cNvPr id="95" name="Image 90" descr="preencoded.png">    </p:cNvPr>
          <p:cNvPicPr>
            <a:picLocks noChangeAspect="1"/>
          </p:cNvPicPr>
          <p:nvPr/>
        </p:nvPicPr>
        <p:blipFill>
          <a:blip r:embed="rId91"/>
          <a:stretch>
            <a:fillRect/>
          </a:stretch>
        </p:blipFill>
        <p:spPr>
          <a:xfrm>
            <a:off x="7838433" y="1773830"/>
            <a:ext cx="57122" cy="152827"/>
          </a:xfrm>
          <a:prstGeom prst="rect">
            <a:avLst/>
          </a:prstGeom>
        </p:spPr>
      </p:pic>
      <p:pic>
        <p:nvPicPr>
          <p:cNvPr id="96" name="Image 91" descr="preencoded.png">    </p:cNvPr>
          <p:cNvPicPr>
            <a:picLocks noChangeAspect="1"/>
          </p:cNvPicPr>
          <p:nvPr/>
        </p:nvPicPr>
        <p:blipFill>
          <a:blip r:embed="rId92"/>
          <a:stretch>
            <a:fillRect/>
          </a:stretch>
        </p:blipFill>
        <p:spPr>
          <a:xfrm>
            <a:off x="7952668" y="1813013"/>
            <a:ext cx="57122" cy="113644"/>
          </a:xfrm>
          <a:prstGeom prst="rect">
            <a:avLst/>
          </a:prstGeom>
        </p:spPr>
      </p:pic>
      <p:pic>
        <p:nvPicPr>
          <p:cNvPr id="97" name="Image 92" descr="preencoded.png">    </p:cNvPr>
          <p:cNvPicPr>
            <a:picLocks noChangeAspect="1"/>
          </p:cNvPicPr>
          <p:nvPr/>
        </p:nvPicPr>
        <p:blipFill>
          <a:blip r:embed="rId93"/>
          <a:stretch>
            <a:fillRect/>
          </a:stretch>
        </p:blipFill>
        <p:spPr>
          <a:xfrm>
            <a:off x="8066917" y="1733047"/>
            <a:ext cx="57122" cy="193609"/>
          </a:xfrm>
          <a:prstGeom prst="rect">
            <a:avLst/>
          </a:prstGeom>
        </p:spPr>
      </p:pic>
      <p:pic>
        <p:nvPicPr>
          <p:cNvPr id="98" name="Image 93" descr="preencoded.png">    </p:cNvPr>
          <p:cNvPicPr>
            <a:picLocks noChangeAspect="1"/>
          </p:cNvPicPr>
          <p:nvPr/>
        </p:nvPicPr>
        <p:blipFill>
          <a:blip r:embed="rId94"/>
          <a:stretch>
            <a:fillRect/>
          </a:stretch>
        </p:blipFill>
        <p:spPr>
          <a:xfrm>
            <a:off x="8181161" y="1681899"/>
            <a:ext cx="57122" cy="244756"/>
          </a:xfrm>
          <a:prstGeom prst="rect">
            <a:avLst/>
          </a:prstGeom>
        </p:spPr>
      </p:pic>
      <p:pic>
        <p:nvPicPr>
          <p:cNvPr id="99" name="Image 94" descr="preencoded.png">    </p:cNvPr>
          <p:cNvPicPr>
            <a:picLocks noChangeAspect="1"/>
          </p:cNvPicPr>
          <p:nvPr/>
        </p:nvPicPr>
        <p:blipFill>
          <a:blip r:embed="rId95"/>
          <a:stretch>
            <a:fillRect/>
          </a:stretch>
        </p:blipFill>
        <p:spPr>
          <a:xfrm>
            <a:off x="8295396" y="1608847"/>
            <a:ext cx="57117" cy="317809"/>
          </a:xfrm>
          <a:prstGeom prst="rect">
            <a:avLst/>
          </a:prstGeom>
        </p:spPr>
      </p:pic>
      <p:pic>
        <p:nvPicPr>
          <p:cNvPr id="100" name="Image 95" descr="preencoded.png">    </p:cNvPr>
          <p:cNvPicPr>
            <a:picLocks noChangeAspect="1"/>
          </p:cNvPicPr>
          <p:nvPr/>
        </p:nvPicPr>
        <p:blipFill>
          <a:blip r:embed="rId96"/>
          <a:stretch>
            <a:fillRect/>
          </a:stretch>
        </p:blipFill>
        <p:spPr>
          <a:xfrm>
            <a:off x="8409631" y="1496348"/>
            <a:ext cx="57117" cy="430308"/>
          </a:xfrm>
          <a:prstGeom prst="rect">
            <a:avLst/>
          </a:prstGeom>
        </p:spPr>
      </p:pic>
      <p:pic>
        <p:nvPicPr>
          <p:cNvPr id="101" name="Image 96" descr="preencoded.png">    </p:cNvPr>
          <p:cNvPicPr>
            <a:picLocks noChangeAspect="1"/>
          </p:cNvPicPr>
          <p:nvPr/>
        </p:nvPicPr>
        <p:blipFill>
          <a:blip r:embed="rId97"/>
          <a:stretch>
            <a:fillRect/>
          </a:stretch>
        </p:blipFill>
        <p:spPr>
          <a:xfrm>
            <a:off x="7599262" y="1408084"/>
            <a:ext cx="992437" cy="606835"/>
          </a:xfrm>
          <a:prstGeom prst="rect">
            <a:avLst/>
          </a:prstGeom>
        </p:spPr>
      </p:pic>
      <p:pic>
        <p:nvPicPr>
          <p:cNvPr id="102" name="Image 97" descr="preencoded.png">    </p:cNvPr>
          <p:cNvPicPr>
            <a:picLocks noChangeAspect="1"/>
          </p:cNvPicPr>
          <p:nvPr/>
        </p:nvPicPr>
        <p:blipFill>
          <a:blip r:embed="rId98"/>
          <a:stretch>
            <a:fillRect/>
          </a:stretch>
        </p:blipFill>
        <p:spPr>
          <a:xfrm>
            <a:off x="7596629" y="1405453"/>
            <a:ext cx="997702" cy="612097"/>
          </a:xfrm>
          <a:prstGeom prst="rect">
            <a:avLst/>
          </a:prstGeom>
        </p:spPr>
      </p:pic>
      <p:pic>
        <p:nvPicPr>
          <p:cNvPr id="103" name="Image 98" descr="preencoded.png">    </p:cNvPr>
          <p:cNvPicPr>
            <a:picLocks noChangeAspect="1"/>
          </p:cNvPicPr>
          <p:nvPr/>
        </p:nvPicPr>
        <p:blipFill>
          <a:blip r:embed="rId99"/>
          <a:stretch>
            <a:fillRect/>
          </a:stretch>
        </p:blipFill>
        <p:spPr>
          <a:xfrm>
            <a:off x="6511533" y="2166112"/>
            <a:ext cx="912377" cy="910113"/>
          </a:xfrm>
          <a:prstGeom prst="rect">
            <a:avLst/>
          </a:prstGeom>
        </p:spPr>
      </p:pic>
      <p:pic>
        <p:nvPicPr>
          <p:cNvPr id="104" name="Image 99" descr="preencoded.png">    </p:cNvPr>
          <p:cNvPicPr>
            <a:picLocks noChangeAspect="1"/>
          </p:cNvPicPr>
          <p:nvPr/>
        </p:nvPicPr>
        <p:blipFill>
          <a:blip r:embed="rId100"/>
          <a:stretch>
            <a:fillRect/>
          </a:stretch>
        </p:blipFill>
        <p:spPr>
          <a:xfrm>
            <a:off x="6599383" y="2251664"/>
            <a:ext cx="736676" cy="736678"/>
          </a:xfrm>
          <a:prstGeom prst="rect">
            <a:avLst/>
          </a:prstGeom>
        </p:spPr>
      </p:pic>
      <p:pic>
        <p:nvPicPr>
          <p:cNvPr id="105" name="Image 100" descr="preencoded.png">    </p:cNvPr>
          <p:cNvPicPr>
            <a:picLocks noChangeAspect="1"/>
          </p:cNvPicPr>
          <p:nvPr/>
        </p:nvPicPr>
        <p:blipFill>
          <a:blip r:embed="rId101"/>
          <a:stretch>
            <a:fillRect/>
          </a:stretch>
        </p:blipFill>
        <p:spPr>
          <a:xfrm>
            <a:off x="6599383" y="2251664"/>
            <a:ext cx="736676" cy="736678"/>
          </a:xfrm>
          <a:prstGeom prst="rect">
            <a:avLst/>
          </a:prstGeom>
        </p:spPr>
      </p:pic>
      <p:pic>
        <p:nvPicPr>
          <p:cNvPr id="106" name="Image 101" descr="preencoded.png">    </p:cNvPr>
          <p:cNvPicPr>
            <a:picLocks noChangeAspect="1"/>
          </p:cNvPicPr>
          <p:nvPr/>
        </p:nvPicPr>
        <p:blipFill>
          <a:blip r:embed="rId102"/>
          <a:stretch>
            <a:fillRect/>
          </a:stretch>
        </p:blipFill>
        <p:spPr>
          <a:xfrm>
            <a:off x="6706832" y="2359040"/>
            <a:ext cx="521791" cy="521926"/>
          </a:xfrm>
          <a:prstGeom prst="rect">
            <a:avLst/>
          </a:prstGeom>
        </p:spPr>
      </p:pic>
      <p:pic>
        <p:nvPicPr>
          <p:cNvPr id="107" name="Image 102" descr="preencoded.png">    </p:cNvPr>
          <p:cNvPicPr>
            <a:picLocks noChangeAspect="1"/>
          </p:cNvPicPr>
          <p:nvPr/>
        </p:nvPicPr>
        <p:blipFill>
          <a:blip r:embed="rId103"/>
          <a:stretch>
            <a:fillRect/>
          </a:stretch>
        </p:blipFill>
        <p:spPr>
          <a:xfrm>
            <a:off x="6855279" y="2451996"/>
            <a:ext cx="225489" cy="336007"/>
          </a:xfrm>
          <a:prstGeom prst="rect">
            <a:avLst/>
          </a:prstGeom>
        </p:spPr>
      </p:pic>
      <p:pic>
        <p:nvPicPr>
          <p:cNvPr id="108" name="Image 103" descr="preencoded.png">    </p:cNvPr>
          <p:cNvPicPr>
            <a:picLocks noChangeAspect="1"/>
          </p:cNvPicPr>
          <p:nvPr/>
        </p:nvPicPr>
        <p:blipFill>
          <a:blip r:embed="rId104"/>
          <a:stretch>
            <a:fillRect/>
          </a:stretch>
        </p:blipFill>
        <p:spPr>
          <a:xfrm>
            <a:off x="5828040" y="1769763"/>
            <a:ext cx="56127" cy="56126"/>
          </a:xfrm>
          <a:prstGeom prst="rect">
            <a:avLst/>
          </a:prstGeom>
        </p:spPr>
      </p:pic>
      <p:pic>
        <p:nvPicPr>
          <p:cNvPr id="109" name="Image 104" descr="preencoded.png">    </p:cNvPr>
          <p:cNvPicPr>
            <a:picLocks noChangeAspect="1"/>
          </p:cNvPicPr>
          <p:nvPr/>
        </p:nvPicPr>
        <p:blipFill>
          <a:blip r:embed="rId105"/>
          <a:stretch>
            <a:fillRect/>
          </a:stretch>
        </p:blipFill>
        <p:spPr>
          <a:xfrm>
            <a:off x="5935028" y="1769763"/>
            <a:ext cx="56131" cy="56129"/>
          </a:xfrm>
          <a:prstGeom prst="rect">
            <a:avLst/>
          </a:prstGeom>
        </p:spPr>
      </p:pic>
      <p:pic>
        <p:nvPicPr>
          <p:cNvPr id="110" name="Image 105" descr="preencoded.png">    </p:cNvPr>
          <p:cNvPicPr>
            <a:picLocks noChangeAspect="1"/>
          </p:cNvPicPr>
          <p:nvPr/>
        </p:nvPicPr>
        <p:blipFill>
          <a:blip r:embed="rId106"/>
          <a:stretch>
            <a:fillRect/>
          </a:stretch>
        </p:blipFill>
        <p:spPr>
          <a:xfrm>
            <a:off x="6042031" y="1769763"/>
            <a:ext cx="56127" cy="56126"/>
          </a:xfrm>
          <a:prstGeom prst="rect">
            <a:avLst/>
          </a:prstGeom>
        </p:spPr>
      </p:pic>
      <p:pic>
        <p:nvPicPr>
          <p:cNvPr id="111" name="Image 106" descr="preencoded.png">    </p:cNvPr>
          <p:cNvPicPr>
            <a:picLocks noChangeAspect="1"/>
          </p:cNvPicPr>
          <p:nvPr/>
        </p:nvPicPr>
        <p:blipFill>
          <a:blip r:embed="rId107"/>
          <a:stretch>
            <a:fillRect/>
          </a:stretch>
        </p:blipFill>
        <p:spPr>
          <a:xfrm>
            <a:off x="6207784" y="1766583"/>
            <a:ext cx="584081" cy="62487"/>
          </a:xfrm>
          <a:prstGeom prst="rect">
            <a:avLst/>
          </a:prstGeom>
        </p:spPr>
      </p:pic>
      <p:pic>
        <p:nvPicPr>
          <p:cNvPr id="112" name="Image 107" descr="preencoded.png">    </p:cNvPr>
          <p:cNvPicPr>
            <a:picLocks noChangeAspect="1"/>
          </p:cNvPicPr>
          <p:nvPr/>
        </p:nvPicPr>
        <p:blipFill>
          <a:blip r:embed="rId108"/>
          <a:stretch>
            <a:fillRect/>
          </a:stretch>
        </p:blipFill>
        <p:spPr>
          <a:xfrm>
            <a:off x="5720316" y="1720212"/>
            <a:ext cx="2445716" cy="155229"/>
          </a:xfrm>
          <a:prstGeom prst="rect">
            <a:avLst/>
          </a:prstGeom>
        </p:spPr>
      </p:pic>
      <p:pic>
        <p:nvPicPr>
          <p:cNvPr id="113" name="Image 108" descr="preencoded.png">    </p:cNvPr>
          <p:cNvPicPr>
            <a:picLocks noChangeAspect="1"/>
          </p:cNvPicPr>
          <p:nvPr/>
        </p:nvPicPr>
        <p:blipFill>
          <a:blip r:embed="rId109"/>
          <a:stretch>
            <a:fillRect/>
          </a:stretch>
        </p:blipFill>
        <p:spPr>
          <a:xfrm>
            <a:off x="5717679" y="1717581"/>
            <a:ext cx="2450981" cy="160490"/>
          </a:xfrm>
          <a:prstGeom prst="rect">
            <a:avLst/>
          </a:prstGeom>
        </p:spPr>
      </p:pic>
      <p:pic>
        <p:nvPicPr>
          <p:cNvPr id="114" name="Image 109" descr="preencoded.png">    </p:cNvPr>
          <p:cNvPicPr>
            <a:picLocks noChangeAspect="1"/>
          </p:cNvPicPr>
          <p:nvPr/>
        </p:nvPicPr>
        <p:blipFill>
          <a:blip r:embed="rId110"/>
          <a:stretch>
            <a:fillRect/>
          </a:stretch>
        </p:blipFill>
        <p:spPr>
          <a:xfrm>
            <a:off x="5720316" y="1720212"/>
            <a:ext cx="2445716" cy="1720616"/>
          </a:xfrm>
          <a:prstGeom prst="rect">
            <a:avLst/>
          </a:prstGeom>
        </p:spPr>
      </p:pic>
      <p:pic>
        <p:nvPicPr>
          <p:cNvPr id="115" name="Image 110" descr="preencoded.png">    </p:cNvPr>
          <p:cNvPicPr>
            <a:picLocks noChangeAspect="1"/>
          </p:cNvPicPr>
          <p:nvPr/>
        </p:nvPicPr>
        <p:blipFill>
          <a:blip r:embed="rId111"/>
          <a:stretch>
            <a:fillRect/>
          </a:stretch>
        </p:blipFill>
        <p:spPr>
          <a:xfrm>
            <a:off x="5717679" y="1717581"/>
            <a:ext cx="2450981" cy="1725878"/>
          </a:xfrm>
          <a:prstGeom prst="rect">
            <a:avLst/>
          </a:prstGeom>
        </p:spPr>
      </p:pic>
      <p:pic>
        <p:nvPicPr>
          <p:cNvPr id="116" name="Image 111" descr="preencoded.png">    </p:cNvPr>
          <p:cNvPicPr>
            <a:picLocks noChangeAspect="1"/>
          </p:cNvPicPr>
          <p:nvPr/>
        </p:nvPicPr>
        <p:blipFill>
          <a:blip r:embed="rId112"/>
          <a:stretch>
            <a:fillRect/>
          </a:stretch>
        </p:blipFill>
        <p:spPr>
          <a:xfrm>
            <a:off x="8283104" y="2784883"/>
            <a:ext cx="347272" cy="347271"/>
          </a:xfrm>
          <a:prstGeom prst="rect">
            <a:avLst/>
          </a:prstGeom>
        </p:spPr>
      </p:pic>
      <p:pic>
        <p:nvPicPr>
          <p:cNvPr id="117" name="Image 112" descr="preencoded.png">    </p:cNvPr>
          <p:cNvPicPr>
            <a:picLocks noChangeAspect="1"/>
          </p:cNvPicPr>
          <p:nvPr/>
        </p:nvPicPr>
        <p:blipFill>
          <a:blip r:embed="rId113"/>
          <a:stretch>
            <a:fillRect/>
          </a:stretch>
        </p:blipFill>
        <p:spPr>
          <a:xfrm>
            <a:off x="5296760" y="1443810"/>
            <a:ext cx="529786" cy="529788"/>
          </a:xfrm>
          <a:prstGeom prst="rect">
            <a:avLst/>
          </a:prstGeom>
        </p:spPr>
      </p:pic>
      <p:pic>
        <p:nvPicPr>
          <p:cNvPr id="118" name="Image 113" descr="preencoded.png">    </p:cNvPr>
          <p:cNvPicPr>
            <a:picLocks noChangeAspect="1"/>
          </p:cNvPicPr>
          <p:nvPr/>
        </p:nvPicPr>
        <p:blipFill>
          <a:blip r:embed="rId114"/>
          <a:stretch>
            <a:fillRect/>
          </a:stretch>
        </p:blipFill>
        <p:spPr>
          <a:xfrm>
            <a:off x="6449551" y="1287587"/>
            <a:ext cx="276178" cy="276178"/>
          </a:xfrm>
          <a:prstGeom prst="rect">
            <a:avLst/>
          </a:prstGeom>
        </p:spPr>
      </p:pic>
      <p:pic>
        <p:nvPicPr>
          <p:cNvPr id="119" name="Image 114" descr="preencoded.png">    </p:cNvPr>
          <p:cNvPicPr>
            <a:picLocks noChangeAspect="1"/>
          </p:cNvPicPr>
          <p:nvPr/>
        </p:nvPicPr>
        <p:blipFill>
          <a:blip r:embed="rId115"/>
          <a:stretch>
            <a:fillRect/>
          </a:stretch>
        </p:blipFill>
        <p:spPr>
          <a:xfrm>
            <a:off x="6223843" y="1162050"/>
            <a:ext cx="332222" cy="331894"/>
          </a:xfrm>
          <a:prstGeom prst="rect">
            <a:avLst/>
          </a:prstGeom>
        </p:spPr>
      </p:pic>
      <p:pic>
        <p:nvPicPr>
          <p:cNvPr id="120" name="Image 115" descr="preencoded.png">    </p:cNvPr>
          <p:cNvPicPr>
            <a:picLocks noChangeAspect="1"/>
          </p:cNvPicPr>
          <p:nvPr/>
        </p:nvPicPr>
        <p:blipFill>
          <a:blip r:embed="rId116"/>
          <a:stretch>
            <a:fillRect/>
          </a:stretch>
        </p:blipFill>
        <p:spPr>
          <a:xfrm>
            <a:off x="7476367" y="2210178"/>
            <a:ext cx="1122801" cy="1122718"/>
          </a:xfrm>
          <a:prstGeom prst="rect">
            <a:avLst/>
          </a:prstGeom>
        </p:spPr>
      </p:pic>
      <p:pic>
        <p:nvPicPr>
          <p:cNvPr id="121" name="Image 116" descr="preencoded.png">    </p:cNvPr>
          <p:cNvPicPr>
            <a:picLocks noChangeAspect="1"/>
          </p:cNvPicPr>
          <p:nvPr/>
        </p:nvPicPr>
        <p:blipFill>
          <a:blip r:embed="rId117"/>
          <a:stretch>
            <a:fillRect/>
          </a:stretch>
        </p:blipFill>
        <p:spPr>
          <a:xfrm>
            <a:off x="5392731" y="1978237"/>
            <a:ext cx="739155" cy="739117"/>
          </a:xfrm>
          <a:prstGeom prst="rect">
            <a:avLst/>
          </a:prstGeom>
        </p:spPr>
      </p:pic>
      <p:pic>
        <p:nvPicPr>
          <p:cNvPr id="122" name="Image 117" descr="preencoded.png">    </p:cNvPr>
          <p:cNvPicPr>
            <a:picLocks noChangeAspect="1"/>
          </p:cNvPicPr>
          <p:nvPr/>
        </p:nvPicPr>
        <p:blipFill>
          <a:blip r:embed="rId118"/>
          <a:stretch>
            <a:fillRect/>
          </a:stretch>
        </p:blipFill>
        <p:spPr>
          <a:xfrm>
            <a:off x="7153419" y="1284197"/>
            <a:ext cx="177585" cy="177584"/>
          </a:xfrm>
          <a:prstGeom prst="rect">
            <a:avLst/>
          </a:prstGeom>
        </p:spPr>
      </p:pic>
      <p:sp>
        <p:nvSpPr>
          <p:cNvPr id="123" name="Text 3"/>
          <p:cNvSpPr/>
          <p:nvPr/>
        </p:nvSpPr>
        <p:spPr>
          <a:xfrm>
            <a:off x="300038" y="585788"/>
            <a:ext cx="3614738" cy="323850"/>
          </a:xfrm>
          <a:prstGeom prst="rect">
            <a:avLst/>
          </a:prstGeom>
          <a:noFill/>
          <a:ln/>
        </p:spPr>
        <p:txBody>
          <a:bodyPr wrap="square" rtlCol="0" anchor="ctr"/>
          <a:lstStyle/>
          <a:p>
            <a:pPr algn="l" indent="0" marL="0">
              <a:lnSpc>
                <a:spcPts val="2544"/>
              </a:lnSpc>
              <a:buNone/>
            </a:pPr>
            <a:r>
              <a:rPr lang="en-US" sz="2024" b="1" dirty="0">
                <a:solidFill>
                  <a:srgbClr val="16161D">
                    <a:alpha val="99000"/>
                  </a:srgbClr>
                </a:solidFill>
                <a:latin typeface="Source Sans Pro" pitchFamily="34" charset="0"/>
                <a:ea typeface="Source Sans Pro" pitchFamily="34" charset="-122"/>
                <a:cs typeface="Source Sans Pro" pitchFamily="34" charset="-120"/>
              </a:rPr>
              <a:t>FUTURE REVENUE MODEL</a:t>
            </a:r>
            <a:endParaRPr lang="en-US" sz="2024" dirty="0"/>
          </a:p>
        </p:txBody>
      </p:sp>
      <p:sp>
        <p:nvSpPr>
          <p:cNvPr id="124" name="Text 4"/>
          <p:cNvSpPr/>
          <p:nvPr/>
        </p:nvSpPr>
        <p:spPr>
          <a:xfrm>
            <a:off x="300038" y="1028700"/>
            <a:ext cx="3238500" cy="533400"/>
          </a:xfrm>
          <a:prstGeom prst="rect">
            <a:avLst/>
          </a:prstGeom>
          <a:noFill/>
          <a:ln/>
        </p:spPr>
        <p:txBody>
          <a:bodyPr wrap="square" rtlCol="0" anchor="ctr"/>
          <a:lstStyle/>
          <a:p>
            <a:pPr algn="l" indent="0" marL="0">
              <a:lnSpc>
                <a:spcPts val="2085"/>
              </a:lnSpc>
              <a:buNone/>
            </a:pPr>
            <a:r>
              <a:rPr lang="en-US" sz="1604" spc="-35" kern="0" dirty="0">
                <a:solidFill>
                  <a:srgbClr val="000000">
                    <a:alpha val="99000"/>
                  </a:srgbClr>
                </a:solidFill>
                <a:latin typeface="Source Serif Pro" pitchFamily="34" charset="0"/>
                <a:ea typeface="Source Serif Pro" pitchFamily="34" charset="-122"/>
                <a:cs typeface="Source Serif Pro" pitchFamily="34" charset="-120"/>
              </a:rPr>
              <a:t>Only pay on success — fair, optional, and rewarding for all.</a:t>
            </a:r>
            <a:endParaRPr lang="en-US" sz="1604" dirty="0"/>
          </a:p>
        </p:txBody>
      </p:sp>
      <p:sp>
        <p:nvSpPr>
          <p:cNvPr id="125" name="Text 5"/>
          <p:cNvSpPr/>
          <p:nvPr/>
        </p:nvSpPr>
        <p:spPr>
          <a:xfrm>
            <a:off x="300038" y="2138363"/>
            <a:ext cx="4362450" cy="1871663"/>
          </a:xfrm>
          <a:prstGeom prst="rect">
            <a:avLst/>
          </a:prstGeom>
          <a:noFill/>
          <a:ln/>
        </p:spPr>
        <p:txBody>
          <a:bodyPr wrap="square" rtlCol="0" anchor="ctr"/>
          <a:lstStyle/>
          <a:p>
            <a:pPr algn="l" marL="342900" indent="-342900">
              <a:lnSpc>
                <a:spcPts val="1738"/>
              </a:lnSpc>
              <a:buSzPct val="100000"/>
              <a:buFont typeface="+mj-lt"/>
              <a:buAutoNum type="arabicPeriod" startAt="1"/>
            </a:pPr>
            <a:r>
              <a:rPr lang="en-US" sz="1390" b="1" dirty="0">
                <a:solidFill>
                  <a:srgbClr val="16161D">
                    <a:alpha val="99000"/>
                  </a:srgbClr>
                </a:solidFill>
                <a:latin typeface="Source Sans Pro" pitchFamily="34" charset="0"/>
                <a:ea typeface="Source Sans Pro" pitchFamily="34" charset="-122"/>
                <a:cs typeface="Source Sans Pro" pitchFamily="34" charset="-120"/>
              </a:rPr>
              <a:t>Success-Based Revenue</a:t>
            </a:r>
            <a:pPr algn="l" indent="0" marL="0">
              <a:lnSpc>
                <a:spcPts val="1738"/>
              </a:lnSpc>
              <a:buNone/>
            </a:pPr>
            <a:r>
              <a:rPr lang="en-US" sz="1390" dirty="0">
                <a:solidFill>
                  <a:srgbClr val="16161D">
                    <a:alpha val="99000"/>
                  </a:srgbClr>
                </a:solidFill>
                <a:latin typeface="Source Sans Pro" pitchFamily="34" charset="0"/>
                <a:ea typeface="Source Sans Pro" pitchFamily="34" charset="-122"/>
                <a:cs typeface="Source Sans Pro" pitchFamily="34" charset="-120"/>
              </a:rPr>
              <a:t> – We only charge after a verified return.</a:t>
            </a:r>
            <a:endParaRPr lang="en-US" sz="1390" dirty="0"/>
          </a:p>
          <a:p>
            <a:pPr algn="l" marL="342900" indent="-342900">
              <a:lnSpc>
                <a:spcPts val="1738"/>
              </a:lnSpc>
              <a:buSzPct val="100000"/>
              <a:buFont typeface="+mj-lt"/>
              <a:buAutoNum type="arabicPeriod" startAt="1"/>
            </a:pPr>
            <a:r>
              <a:rPr lang="en-US" sz="1390" b="1" dirty="0">
                <a:solidFill>
                  <a:srgbClr val="16161D">
                    <a:alpha val="99000"/>
                  </a:srgbClr>
                </a:solidFill>
                <a:latin typeface="Source Sans Pro" pitchFamily="34" charset="0"/>
                <a:ea typeface="Source Sans Pro" pitchFamily="34" charset="-122"/>
                <a:cs typeface="Source Sans Pro" pitchFamily="34" charset="-120"/>
              </a:rPr>
              <a:t>Ad Reveue</a:t>
            </a:r>
            <a:pPr algn="l" indent="0" marL="0">
              <a:lnSpc>
                <a:spcPts val="1738"/>
              </a:lnSpc>
              <a:buNone/>
            </a:pPr>
            <a:r>
              <a:rPr lang="en-US" sz="1390" dirty="0">
                <a:solidFill>
                  <a:srgbClr val="16161D">
                    <a:alpha val="99000"/>
                  </a:srgbClr>
                </a:solidFill>
                <a:latin typeface="Source Sans Pro" pitchFamily="34" charset="0"/>
                <a:ea typeface="Source Sans Pro" pitchFamily="34" charset="-122"/>
                <a:cs typeface="Source Sans Pro" pitchFamily="34" charset="-120"/>
              </a:rPr>
              <a:t> – Users can boost visibility through web-based banners.</a:t>
            </a:r>
            <a:endParaRPr lang="en-US" sz="1390" dirty="0"/>
          </a:p>
          <a:p>
            <a:pPr algn="l" marL="342900" indent="-342900">
              <a:lnSpc>
                <a:spcPts val="1738"/>
              </a:lnSpc>
              <a:buSzPct val="100000"/>
              <a:buFont typeface="+mj-lt"/>
              <a:buAutoNum type="arabicPeriod" startAt="1"/>
            </a:pPr>
            <a:r>
              <a:rPr lang="en-US" sz="1390" b="1" dirty="0">
                <a:solidFill>
                  <a:srgbClr val="16161D">
                    <a:alpha val="99000"/>
                  </a:srgbClr>
                </a:solidFill>
                <a:latin typeface="Source Sans Pro" pitchFamily="34" charset="0"/>
                <a:ea typeface="Source Sans Pro" pitchFamily="34" charset="-122"/>
                <a:cs typeface="Source Sans Pro" pitchFamily="34" charset="-120"/>
              </a:rPr>
              <a:t>Smart Notifications </a:t>
            </a:r>
            <a:pPr algn="l" indent="0" marL="0">
              <a:lnSpc>
                <a:spcPts val="1738"/>
              </a:lnSpc>
              <a:buNone/>
            </a:pPr>
            <a:r>
              <a:rPr lang="en-US" sz="1390" dirty="0">
                <a:solidFill>
                  <a:srgbClr val="16161D">
                    <a:alpha val="99000"/>
                  </a:srgbClr>
                </a:solidFill>
                <a:latin typeface="Source Sans Pro" pitchFamily="34" charset="0"/>
                <a:ea typeface="Source Sans Pro" pitchFamily="34" charset="-122"/>
                <a:cs typeface="Source Sans Pro" pitchFamily="34" charset="-120"/>
              </a:rPr>
              <a:t>– Premium users get early alerts through a subscription model.</a:t>
            </a:r>
            <a:endParaRPr lang="en-US" sz="13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7E9"/>
        </a:solidFill>
      </p:bgPr>
    </p:bg>
    <p:spTree>
      <p:nvGrpSpPr>
        <p:cNvPr id="1" name=""/>
        <p:cNvGrpSpPr/>
        <p:nvPr/>
      </p:nvGrpSpPr>
      <p:grpSpPr>
        <a:xfrm>
          <a:off x="0" y="0"/>
          <a:ext cx="0" cy="0"/>
          <a:chOff x="0" y="0"/>
          <a:chExt cx="0" cy="0"/>
        </a:xfrm>
      </p:grpSpPr>
      <p:sp>
        <p:nvSpPr>
          <p:cNvPr id="3" name="Shape 0"/>
          <p:cNvSpPr/>
          <p:nvPr/>
        </p:nvSpPr>
        <p:spPr>
          <a:xfrm>
            <a:off x="476250" y="2333625"/>
            <a:ext cx="3328988" cy="995363"/>
          </a:xfrm>
          <a:prstGeom prst="rect">
            <a:avLst/>
          </a:prstGeom>
          <a:noFill/>
          <a:ln/>
        </p:spPr>
      </p:sp>
      <p:sp>
        <p:nvSpPr>
          <p:cNvPr id="4" name="Shape 1"/>
          <p:cNvSpPr/>
          <p:nvPr/>
        </p:nvSpPr>
        <p:spPr>
          <a:xfrm rot="5400000">
            <a:off x="1366838" y="2571750"/>
            <a:ext cx="5143500" cy="0"/>
          </a:xfrm>
          <a:prstGeom prst="line">
            <a:avLst/>
          </a:prstGeom>
          <a:noFill/>
          <a:ln w="38100">
            <a:solidFill>
              <a:srgbClr val="88888C">
                <a:alpha val="30000"/>
              </a:srgbClr>
            </a:solidFill>
            <a:prstDash val="solid"/>
          </a:ln>
        </p:spPr>
      </p:sp>
      <p:sp>
        <p:nvSpPr>
          <p:cNvPr id="5" name="Text 2"/>
          <p:cNvSpPr/>
          <p:nvPr/>
        </p:nvSpPr>
        <p:spPr>
          <a:xfrm>
            <a:off x="4267200" y="1909762"/>
            <a:ext cx="4838700" cy="1666875"/>
          </a:xfrm>
          <a:prstGeom prst="rect">
            <a:avLst/>
          </a:prstGeom>
          <a:noFill/>
          <a:ln/>
        </p:spPr>
        <p:txBody>
          <a:bodyPr wrap="square" rtlCol="0" anchor="ctr"/>
          <a:lstStyle/>
          <a:p>
            <a:pPr algn="l" marL="342900" indent="-342900">
              <a:lnSpc>
                <a:spcPts val="1878"/>
              </a:lnSpc>
              <a:buSzPct val="100000"/>
              <a:buFont typeface="+mj-lt"/>
              <a:buAutoNum type="arabicPeriod" startAt="1"/>
            </a:pPr>
            <a:r>
              <a:rPr lang="en-US" sz="1503" b="1" dirty="0">
                <a:solidFill>
                  <a:srgbClr val="16161D">
                    <a:alpha val="99000"/>
                  </a:srgbClr>
                </a:solidFill>
                <a:latin typeface="Source Sans Pro" pitchFamily="34" charset="0"/>
                <a:ea typeface="Source Sans Pro" pitchFamily="34" charset="-122"/>
                <a:cs typeface="Source Sans Pro" pitchFamily="34" charset="-120"/>
              </a:rPr>
              <a:t>High-Frequency Problem –</a:t>
            </a:r>
            <a:pPr algn="l" indent="0" marL="0">
              <a:lnSpc>
                <a:spcPts val="1878"/>
              </a:lnSpc>
              <a:buNone/>
            </a:pPr>
            <a:r>
              <a:rPr lang="en-US" sz="1503" dirty="0">
                <a:solidFill>
                  <a:srgbClr val="16161D">
                    <a:alpha val="99000"/>
                  </a:srgbClr>
                </a:solidFill>
                <a:latin typeface="Source Sans Pro" pitchFamily="34" charset="0"/>
                <a:ea typeface="Source Sans Pro" pitchFamily="34" charset="-122"/>
                <a:cs typeface="Source Sans Pro" pitchFamily="34" charset="-120"/>
              </a:rPr>
              <a:t> Every day, people lose phones, wallets, and documents in public spaces with no proper recovery system.</a:t>
            </a:r>
            <a:endParaRPr lang="en-US" sz="1503" dirty="0"/>
          </a:p>
          <a:p>
            <a:pPr algn="l" marL="342900" indent="-342900">
              <a:lnSpc>
                <a:spcPts val="1878"/>
              </a:lnSpc>
              <a:buSzPct val="100000"/>
              <a:buFont typeface="+mj-lt"/>
              <a:buAutoNum type="arabicPeriod" startAt="1"/>
            </a:pPr>
            <a:r>
              <a:rPr lang="en-US" sz="1503" b="1" dirty="0">
                <a:solidFill>
                  <a:srgbClr val="16161D">
                    <a:alpha val="99000"/>
                  </a:srgbClr>
                </a:solidFill>
                <a:latin typeface="Source Sans Pro" pitchFamily="34" charset="0"/>
                <a:ea typeface="Source Sans Pro" pitchFamily="34" charset="-122"/>
                <a:cs typeface="Source Sans Pro" pitchFamily="34" charset="-120"/>
              </a:rPr>
              <a:t>Scalable Solution – </a:t>
            </a:r>
            <a:pPr algn="l" indent="0" marL="0">
              <a:lnSpc>
                <a:spcPts val="1878"/>
              </a:lnSpc>
              <a:buNone/>
            </a:pPr>
            <a:r>
              <a:rPr lang="en-US" sz="1503" dirty="0">
                <a:solidFill>
                  <a:srgbClr val="16161D">
                    <a:alpha val="99000"/>
                  </a:srgbClr>
                </a:solidFill>
                <a:latin typeface="Source Sans Pro" pitchFamily="34" charset="0"/>
                <a:ea typeface="Source Sans Pro" pitchFamily="34" charset="-122"/>
                <a:cs typeface="Source Sans Pro" pitchFamily="34" charset="-120"/>
              </a:rPr>
              <a:t>Vetayo is built to grow, because it’s niche and ignored topic and there’s no deticated platform.</a:t>
            </a:r>
            <a:endParaRPr lang="en-US" sz="1503" dirty="0"/>
          </a:p>
        </p:txBody>
      </p:sp>
      <p:sp>
        <p:nvSpPr>
          <p:cNvPr id="6" name="Text 3"/>
          <p:cNvSpPr/>
          <p:nvPr/>
        </p:nvSpPr>
        <p:spPr>
          <a:xfrm>
            <a:off x="476250" y="2333625"/>
            <a:ext cx="3786188" cy="395288"/>
          </a:xfrm>
          <a:prstGeom prst="rect">
            <a:avLst/>
          </a:prstGeom>
          <a:noFill/>
          <a:ln/>
        </p:spPr>
        <p:txBody>
          <a:bodyPr wrap="square" rtlCol="0" anchor="ctr"/>
          <a:lstStyle/>
          <a:p>
            <a:pPr algn="l" indent="0" marL="0">
              <a:lnSpc>
                <a:spcPts val="3120"/>
              </a:lnSpc>
              <a:buNone/>
            </a:pPr>
            <a:r>
              <a:rPr lang="en-US" sz="2400" spc="-53" kern="0" dirty="0">
                <a:solidFill>
                  <a:srgbClr val="000000">
                    <a:alpha val="99000"/>
                  </a:srgbClr>
                </a:solidFill>
                <a:latin typeface="Source Serif Pro" pitchFamily="34" charset="0"/>
                <a:ea typeface="Source Serif Pro" pitchFamily="34" charset="-122"/>
                <a:cs typeface="Source Serif Pro" pitchFamily="34" charset="-120"/>
              </a:rPr>
              <a:t>Market Opportunity</a:t>
            </a:r>
            <a:endParaRPr lang="en-US" sz="2400" dirty="0"/>
          </a:p>
        </p:txBody>
      </p:sp>
      <p:sp>
        <p:nvSpPr>
          <p:cNvPr id="7" name="Text 4"/>
          <p:cNvSpPr/>
          <p:nvPr/>
        </p:nvSpPr>
        <p:spPr>
          <a:xfrm>
            <a:off x="476250" y="2871788"/>
            <a:ext cx="3786188" cy="457200"/>
          </a:xfrm>
          <a:prstGeom prst="rect">
            <a:avLst/>
          </a:prstGeom>
          <a:noFill/>
          <a:ln/>
        </p:spPr>
        <p:txBody>
          <a:bodyPr wrap="square" rtlCol="0" anchor="ctr"/>
          <a:lstStyle/>
          <a:p>
            <a:pPr algn="l" indent="0" marL="0">
              <a:lnSpc>
                <a:spcPts val="1800"/>
              </a:lnSpc>
              <a:buNone/>
            </a:pPr>
            <a:r>
              <a:rPr lang="en-US" sz="1200" dirty="0">
                <a:solidFill>
                  <a:srgbClr val="16161D">
                    <a:alpha val="99000"/>
                  </a:srgbClr>
                </a:solidFill>
                <a:latin typeface="Source Sans Pro" pitchFamily="34" charset="0"/>
                <a:ea typeface="Source Sans Pro" pitchFamily="34" charset="-122"/>
                <a:cs typeface="Source Sans Pro" pitchFamily="34" charset="-120"/>
              </a:rPr>
              <a:t>Thousands of items lost daily—Vetayo brings trust, structure, recovery.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7E9"/>
        </a:solidFill>
      </p:bgPr>
    </p:bg>
    <p:spTree>
      <p:nvGrpSpPr>
        <p:cNvPr id="1" name=""/>
        <p:cNvGrpSpPr/>
        <p:nvPr/>
      </p:nvGrpSpPr>
      <p:grpSpPr>
        <a:xfrm>
          <a:off x="0" y="0"/>
          <a:ext cx="0" cy="0"/>
          <a:chOff x="0" y="0"/>
          <a:chExt cx="0" cy="0"/>
        </a:xfrm>
      </p:grpSpPr>
      <p:sp>
        <p:nvSpPr>
          <p:cNvPr id="2" name="Shape 0"/>
          <p:cNvSpPr/>
          <p:nvPr/>
        </p:nvSpPr>
        <p:spPr>
          <a:xfrm>
            <a:off x="928688" y="1459706"/>
            <a:ext cx="7253288" cy="2005013"/>
          </a:xfrm>
          <a:prstGeom prst="rect">
            <a:avLst/>
          </a:prstGeom>
          <a:noFill/>
          <a:ln/>
        </p:spPr>
      </p:sp>
      <p:sp>
        <p:nvSpPr>
          <p:cNvPr id="3" name="Text 1"/>
          <p:cNvSpPr/>
          <p:nvPr/>
        </p:nvSpPr>
        <p:spPr>
          <a:xfrm>
            <a:off x="928688" y="1459706"/>
            <a:ext cx="7710488" cy="395288"/>
          </a:xfrm>
          <a:prstGeom prst="rect">
            <a:avLst/>
          </a:prstGeom>
          <a:noFill/>
          <a:ln/>
        </p:spPr>
        <p:txBody>
          <a:bodyPr wrap="square" rtlCol="0" anchor="ctr"/>
          <a:lstStyle/>
          <a:p>
            <a:pPr algn="l" indent="0" marL="0">
              <a:lnSpc>
                <a:spcPts val="3120"/>
              </a:lnSpc>
              <a:buNone/>
            </a:pPr>
            <a:r>
              <a:rPr lang="en-US" sz="2400" spc="-53" kern="0" dirty="0">
                <a:solidFill>
                  <a:srgbClr val="000000">
                    <a:alpha val="99000"/>
                  </a:srgbClr>
                </a:solidFill>
                <a:latin typeface="Source Serif Pro" pitchFamily="34" charset="0"/>
                <a:ea typeface="Source Serif Pro" pitchFamily="34" charset="-122"/>
                <a:cs typeface="Source Serif Pro" pitchFamily="34" charset="-120"/>
              </a:rPr>
              <a:t>Conclusion</a:t>
            </a:r>
            <a:endParaRPr lang="en-US" sz="2400" dirty="0"/>
          </a:p>
        </p:txBody>
      </p:sp>
      <p:sp>
        <p:nvSpPr>
          <p:cNvPr id="4" name="Text 2"/>
          <p:cNvSpPr/>
          <p:nvPr/>
        </p:nvSpPr>
        <p:spPr>
          <a:xfrm>
            <a:off x="928688" y="1997869"/>
            <a:ext cx="7710488" cy="1466850"/>
          </a:xfrm>
          <a:prstGeom prst="rect">
            <a:avLst/>
          </a:prstGeom>
          <a:noFill/>
          <a:ln/>
        </p:spPr>
        <p:txBody>
          <a:bodyPr wrap="square" rtlCol="0" anchor="ctr"/>
          <a:lstStyle/>
          <a:p>
            <a:pPr algn="l" indent="0" marL="0">
              <a:lnSpc>
                <a:spcPts val="2880"/>
              </a:lnSpc>
              <a:buNone/>
            </a:pPr>
            <a:r>
              <a:rPr lang="en-US" sz="1800" spc="-18" kern="0" dirty="0">
                <a:solidFill>
                  <a:srgbClr val="000000">
                    <a:alpha val="99000"/>
                  </a:srgbClr>
                </a:solidFill>
                <a:latin typeface="Source Serif Pro" pitchFamily="34" charset="0"/>
                <a:ea typeface="Source Serif Pro" pitchFamily="34" charset="-122"/>
                <a:cs typeface="Source Serif Pro" pitchFamily="34" charset="-120"/>
              </a:rPr>
              <a:t>Lost &amp; found shouldn’t rely on luck. With Vetayo, we bring structure, trust, and action to what’s been missing. We’re not just building a platform—we’re solving a daily problem. Let’s find what matters — together.</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7E9"/>
        </a:solidFill>
      </p:bgPr>
    </p:bg>
    <p:spTree>
      <p:nvGrpSpPr>
        <p:cNvPr id="1" name=""/>
        <p:cNvGrpSpPr/>
        <p:nvPr/>
      </p:nvGrpSpPr>
      <p:grpSpPr>
        <a:xfrm>
          <a:off x="0" y="0"/>
          <a:ext cx="0" cy="0"/>
          <a:chOff x="0" y="0"/>
          <a:chExt cx="0" cy="0"/>
        </a:xfrm>
      </p:grpSpPr>
      <p:sp>
        <p:nvSpPr>
          <p:cNvPr id="2" name="Text 0"/>
          <p:cNvSpPr/>
          <p:nvPr/>
        </p:nvSpPr>
        <p:spPr>
          <a:xfrm>
            <a:off x="476250" y="381000"/>
            <a:ext cx="1233488" cy="166688"/>
          </a:xfrm>
          <a:prstGeom prst="rect">
            <a:avLst/>
          </a:prstGeom>
          <a:noFill/>
          <a:ln/>
        </p:spPr>
        <p:txBody>
          <a:bodyPr wrap="square" rtlCol="0" anchor="ctr"/>
          <a:lstStyle/>
          <a:p>
            <a:pPr algn="l" indent="0" marL="0">
              <a:lnSpc>
                <a:spcPts val="1320"/>
              </a:lnSpc>
              <a:buNone/>
            </a:pPr>
            <a:r>
              <a:rPr lang="en-US" sz="1050" b="1" dirty="0">
                <a:solidFill>
                  <a:srgbClr val="16161D">
                    <a:alpha val="99000"/>
                  </a:srgbClr>
                </a:solidFill>
                <a:latin typeface="Source Sans Pro" pitchFamily="34" charset="0"/>
                <a:ea typeface="Source Sans Pro" pitchFamily="34" charset="-122"/>
                <a:cs typeface="Source Sans Pro" pitchFamily="34" charset="-120"/>
              </a:rPr>
              <a:t>26 JUNE 2024</a:t>
            </a:r>
            <a:endParaRPr lang="en-US" sz="1050" dirty="0"/>
          </a:p>
        </p:txBody>
      </p:sp>
      <p:sp>
        <p:nvSpPr>
          <p:cNvPr id="3" name="Text 1"/>
          <p:cNvSpPr/>
          <p:nvPr/>
        </p:nvSpPr>
        <p:spPr>
          <a:xfrm>
            <a:off x="1466850" y="1881187"/>
            <a:ext cx="6662738" cy="1600200"/>
          </a:xfrm>
          <a:prstGeom prst="rect">
            <a:avLst/>
          </a:prstGeom>
          <a:noFill/>
          <a:ln/>
        </p:spPr>
        <p:txBody>
          <a:bodyPr wrap="square" rtlCol="0" anchor="ctr"/>
          <a:lstStyle/>
          <a:p>
            <a:pPr algn="ctr" indent="0" marL="0">
              <a:lnSpc>
                <a:spcPts val="6300"/>
              </a:lnSpc>
              <a:buNone/>
            </a:pPr>
            <a:r>
              <a:rPr lang="en-US" sz="5250" dirty="0">
                <a:solidFill>
                  <a:srgbClr val="000000">
                    <a:alpha val="99000"/>
                  </a:srgbClr>
                </a:solidFill>
                <a:latin typeface="Source Serif Pro" pitchFamily="34" charset="0"/>
                <a:ea typeface="Source Serif Pro" pitchFamily="34" charset="-122"/>
                <a:cs typeface="Source Serif Pro" pitchFamily="34" charset="-120"/>
              </a:rPr>
              <a:t>Thank you and let’s run into demo</a:t>
            </a:r>
            <a:endParaRPr lang="en-US" sz="5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2025-08-05T11:59:37Z</dcterms:created>
  <dcterms:modified xsi:type="dcterms:W3CDTF">2025-08-05T11:59:37Z</dcterms:modified>
</cp:coreProperties>
</file>